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15544800" cy="7543800"/>
          </a:xfrm>
          <a:prstGeom prst="roundRect">
            <a:avLst/>
          </a:prstGeom>
          <a:solidFill>
            <a:srgbClr val="1E293B"/>
          </a:solidFill>
          <a:ln w="381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210312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Arial"/>
              </a:defRPr>
            </a:pPr>
            <a:r>
              <a:t>✦ AI-POWERED ENTERPRISE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743200"/>
            <a:ext cx="1371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r>
              <a:t>Insider Threat Behavioral</a:t>
            </a:r>
            <a:br/>
            <a:r>
              <a:t>Intelligence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029200"/>
            <a:ext cx="1371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BD5E1"/>
                </a:solidFill>
                <a:latin typeface="Arial"/>
              </a:defRPr>
            </a:pPr>
            <a:r>
              <a:t>Real-Time UEBA Anomaly Detection, Dynamic Risk Scoring &amp; Automated Playbook Mitigation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6766560"/>
            <a:ext cx="3200400" cy="64008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FastAPI &amp; Redis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6766560"/>
            <a:ext cx="3200400" cy="64008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Isolation Forest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6766560"/>
            <a:ext cx="3200400" cy="64008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React + Vite SOC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710160" y="6766560"/>
            <a:ext cx="3200400" cy="64008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PostgreSQL Baselines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Technology Stack &amp; Core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931920" cy="7589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3566160" cy="8229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B0F19"/>
                </a:solidFill>
                <a:latin typeface="Arial"/>
              </a:defRPr>
            </a:pPr>
            <a:r>
              <a:t>FASTAPI BACKEND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Async REST Microservices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High-Throughput Log Ingestion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OAuth2 &amp; JWT RBAC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667512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WebSocket Live Notification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828800"/>
            <a:ext cx="3931920" cy="7589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2011680"/>
            <a:ext cx="3566160" cy="8229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B0F19"/>
                </a:solidFill>
                <a:latin typeface="Arial"/>
              </a:defRPr>
            </a:pPr>
            <a:r>
              <a:t>UEBA ML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310896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Isolation Forest Outlier Detector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429768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Statistical Z-Score Calculator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548640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30-Day Behavioral Baselines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667512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Dynamic Risk Scoring (0-100)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828800"/>
            <a:ext cx="3931920" cy="7589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09760" y="2011680"/>
            <a:ext cx="35661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B0F19"/>
                </a:solidFill>
                <a:latin typeface="Arial"/>
              </a:defRPr>
            </a:pPr>
            <a:r>
              <a:t>REACT SOC DASHBOARD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310896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React + Vite High-Speed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429768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Real-Time Threat Heatmaps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548640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Interactive Incident Triage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667512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Recharts Visual Analytics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624560" y="1828800"/>
            <a:ext cx="3931920" cy="7589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807440" y="2011680"/>
            <a:ext cx="3566160" cy="822960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B0F19"/>
                </a:solidFill>
                <a:latin typeface="Arial"/>
              </a:defRPr>
            </a:pPr>
            <a:r>
              <a:t>DATA &amp; INFRASTRUCTURE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807440" y="310896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PostgreSQL Baseline Store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807440" y="429768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Redis Pub/Sub &amp; Caching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807440" y="548640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Docker Multi-Container Setup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807440" y="6675120"/>
            <a:ext cx="3566160" cy="1005840"/>
          </a:xfrm>
          <a:prstGeom prst="roundRect">
            <a:avLst/>
          </a:prstGeom>
          <a:solidFill>
            <a:srgbClr val="0B0F19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Arial"/>
              </a:defRPr>
            </a:pPr>
            <a:r>
              <a:t>✦ Alembic Database Migrations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Core System Capabilities &amp;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682496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28600" cy="164592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965960"/>
            <a:ext cx="1600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Arial"/>
              </a:defRPr>
            </a:pPr>
            <a:r>
              <a:t>Real-Time Log Telemetry Ingestion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Continuous streaming ingestion of authentication events, resource access requests, data transfer volumes, and IP telemetry across enterprise endpoints.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40"/>
            <a:ext cx="1682496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749040"/>
            <a:ext cx="228600" cy="1645920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886200"/>
            <a:ext cx="1600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3F5E"/>
                </a:solidFill>
                <a:latin typeface="Arial"/>
              </a:defRPr>
            </a:pPr>
            <a:r>
              <a:t>Isolation Forest Anomaly Engine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Unsupervised machine learning model identifying multi-dimensional behavioral outliers and suspicious activity deviations without requiring pre-labeled attack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682496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669280"/>
            <a:ext cx="228600" cy="1645920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600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Arial"/>
              </a:defRPr>
            </a:pPr>
            <a:r>
              <a:t>Dynamic Risk Scoring (0–100)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Continuous calculation of individual user threat levels using 30-day statistical baselines, weighted anomaly factors, and historical risk persistence.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7589520"/>
            <a:ext cx="1682496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7589520"/>
            <a:ext cx="228600" cy="16459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7726680"/>
            <a:ext cx="1600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Arial"/>
              </a:defRPr>
            </a:pPr>
            <a:r>
              <a:t>Automated Playbook Response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Instant SOC containment actions including force MFA challenge, user account lockout, active session revocation, and automated webhook notifications.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Cybersecurity Problem &amp; SIEM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43F5E"/>
                </a:solidFill>
                <a:latin typeface="Arial"/>
              </a:defRPr>
            </a:pPr>
            <a:r>
              <a:t>Static SIEM Rules Fail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Traditional Security Information and Event Management (SIEM) platforms rely on fixed threshold rules that completely fail to detect low-and-slow data exfiltration by authorized insiders.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BBF24"/>
                </a:solidFill>
                <a:latin typeface="Arial"/>
              </a:defRPr>
            </a:pPr>
            <a:r>
              <a:t>Analyst Fatigue &amp; Noise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Legacy monitoring systems flood Security Operations Center (SOC) teams with thousands of uncorrelated alerts, resulting in severe analyst fatigue and critical missed threats.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296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18CF8"/>
                </a:solidFill>
                <a:latin typeface="Arial"/>
              </a:defRPr>
            </a:pPr>
            <a:r>
              <a:t>Delayed Incident Response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Manual log investigation and threat correlation take hours or days, allowing malicious insiders prolonged unauthorized access to sensitive IP and customer databases.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End-to-End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diagram_mockup_1787136762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37360"/>
            <a:ext cx="7863840" cy="7863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737360"/>
            <a:ext cx="4114800" cy="78638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56616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Arial"/>
              </a:defRPr>
            </a:pPr>
            <a:r>
              <a:t>4-Stage Pipeline</a:t>
            </a:r>
          </a:p>
          <a:p>
            <a:pPr>
              <a:spcBef>
                <a:spcPts val="18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✦ 1. Ingestion</a:t>
            </a:r>
          </a:p>
          <a:p>
            <a:pPr>
              <a:defRPr sz="1300">
                <a:solidFill>
                  <a:srgbClr val="CBD5E1"/>
                </a:solidFill>
                <a:latin typeface="Arial"/>
              </a:defRPr>
            </a:pPr>
            <a:r>
              <a:t>Logs, Auth &amp; Activity Telemetry</a:t>
            </a:r>
          </a:p>
          <a:p>
            <a:pPr>
              <a:spcBef>
                <a:spcPts val="18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✦ 2. Backend</a:t>
            </a:r>
          </a:p>
          <a:p>
            <a:pPr>
              <a:defRPr sz="1300">
                <a:solidFill>
                  <a:srgbClr val="CBD5E1"/>
                </a:solidFill>
                <a:latin typeface="Arial"/>
              </a:defRPr>
            </a:pPr>
            <a:r>
              <a:t>FastAPI &amp; Redis Pub/Sub</a:t>
            </a:r>
          </a:p>
          <a:p>
            <a:pPr>
              <a:spcBef>
                <a:spcPts val="18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✦ 3. ML Engine</a:t>
            </a:r>
          </a:p>
          <a:p>
            <a:pPr>
              <a:defRPr sz="1300">
                <a:solidFill>
                  <a:srgbClr val="CBD5E1"/>
                </a:solidFill>
                <a:latin typeface="Arial"/>
              </a:defRPr>
            </a:pPr>
            <a:r>
              <a:t>Isolation Forest &amp; Z-Score</a:t>
            </a:r>
          </a:p>
          <a:p>
            <a:pPr>
              <a:spcBef>
                <a:spcPts val="18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✦ 4. SOC UI</a:t>
            </a:r>
          </a:p>
          <a:p>
            <a:pPr>
              <a:defRPr sz="1300">
                <a:solidFill>
                  <a:srgbClr val="CBD5E1"/>
                </a:solidFill>
                <a:latin typeface="Arial"/>
              </a:defRPr>
            </a:pPr>
            <a:r>
              <a:t>React Heatmaps &amp; Push Alerts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Key Engineering Solutions &amp;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38BDF8"/>
                </a:solidFill>
                <a:latin typeface="Arial"/>
              </a:defRPr>
            </a:pPr>
            <a:r>
              <a:t>Asynchronous Multi-Stream Ingestion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Leveraging FastAPI async workers and Redis Pub/Sub queues to process thousands of incoming events per second without dropping packets or blocking execution threads.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0B981"/>
                </a:solidFill>
                <a:latin typeface="Arial"/>
              </a:defRPr>
            </a:pPr>
            <a:r>
              <a:t>30-Day Dynamic Baseline Profiling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Statistical user behavior baselining stored in PostgreSQL, dynamically evaluating Z-score deviations across time-of-day, IP geography, and transfer volumes.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296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818CF8"/>
                </a:solidFill>
                <a:latin typeface="Arial"/>
              </a:defRPr>
            </a:pPr>
            <a:r>
              <a:t>Sub-Second WebSocket Alert Stream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Real-time bidirectional WebSocket pushing of escalated threat alerts directly to SOC analyst dashboards for immediate investigation and incident response.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Measurable Security Impact &amp;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8229600" cy="34747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38BDF8"/>
                </a:solidFill>
                <a:latin typeface="Arial"/>
              </a:defRPr>
            </a:pPr>
            <a:r>
              <a:t>90%+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MTTR Reduction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Drastically reduced Mean Time to Respond (MTTR) from hours to sub-minute automated triage.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1828800"/>
            <a:ext cx="8229600" cy="34747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210312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3F5E"/>
                </a:solidFill>
                <a:latin typeface="Arial"/>
              </a:defRPr>
            </a:pPr>
            <a:r>
              <a:t>4.6M+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3291840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Logs Analyzed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Continuous real-time telemetry processing across security events and employee access records.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8229600" cy="34747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0B981"/>
                </a:solidFill>
                <a:latin typeface="Arial"/>
              </a:defRPr>
            </a:pPr>
            <a:r>
              <a:t>1,001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7132320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Employees Tracked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Active 30-day behavioral baselines and risk scores maintained concurrently in PostgreSQL.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5669280"/>
            <a:ext cx="8229600" cy="34747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594360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BBF24"/>
                </a:solidFill>
                <a:latin typeface="Arial"/>
              </a:defRPr>
            </a:pPr>
            <a:r>
              <a:t>&lt; 1s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7132320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Alert Push Latency</a:t>
            </a:r>
          </a:p>
          <a:p>
            <a:pPr>
              <a:spcBef>
                <a:spcPts val="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Sub-second real-time WebSocket alert dispatching to the React SOC dashboard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Real Application Demonstration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_1787137164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8412480" cy="4023360"/>
          </a:xfrm>
          <a:prstGeom prst="rect">
            <a:avLst/>
          </a:prstGeom>
        </p:spPr>
      </p:pic>
      <p:pic>
        <p:nvPicPr>
          <p:cNvPr id="6" name="Picture 5" descr="ueba_alerts_table_17871374375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737360"/>
            <a:ext cx="8412480" cy="4023360"/>
          </a:xfrm>
          <a:prstGeom prst="rect">
            <a:avLst/>
          </a:prstGeom>
        </p:spPr>
      </p:pic>
      <p:pic>
        <p:nvPicPr>
          <p:cNvPr id="7" name="Picture 6" descr="incidents_page_1787137460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943600"/>
            <a:ext cx="8412480" cy="4023360"/>
          </a:xfrm>
          <a:prstGeom prst="rect">
            <a:avLst/>
          </a:prstGeom>
        </p:spPr>
      </p:pic>
      <p:pic>
        <p:nvPicPr>
          <p:cNvPr id="8" name="Picture 7" descr="api_documentation_17871374818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5943600"/>
            <a:ext cx="841248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920240"/>
            <a:ext cx="3657600" cy="457200"/>
          </a:xfrm>
          <a:prstGeom prst="roundRect">
            <a:avLst/>
          </a:prstGeom>
          <a:solidFill>
            <a:srgbClr val="0B0F19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1. Security 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920240"/>
            <a:ext cx="3657600" cy="457200"/>
          </a:xfrm>
          <a:prstGeom prst="roundRect">
            <a:avLst/>
          </a:prstGeom>
          <a:solidFill>
            <a:srgbClr val="0B0F19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43F5E"/>
                </a:solidFill>
                <a:latin typeface="Arial"/>
              </a:defRPr>
            </a:pPr>
            <a:r>
              <a:t>2. UEBA Intelligence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126480"/>
            <a:ext cx="3657600" cy="457200"/>
          </a:xfrm>
          <a:prstGeom prst="roundRect">
            <a:avLst/>
          </a:prstGeom>
          <a:solidFill>
            <a:srgbClr val="0B0F19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3. Incident Triage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6126480"/>
            <a:ext cx="3657600" cy="457200"/>
          </a:xfrm>
          <a:prstGeom prst="roundRect">
            <a:avLst/>
          </a:prstGeom>
          <a:solidFill>
            <a:srgbClr val="0B0F19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818CF8"/>
                </a:solidFill>
                <a:latin typeface="Arial"/>
              </a:defRPr>
            </a:pPr>
            <a:r>
              <a:t>4. FastAPI Interactive Docs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Threat Detection &amp; ML Pipeline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6583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Arial"/>
              </a:defRPr>
            </a:pPr>
            <a:r>
              <a:t>STEP 1: FEATURE EXTRACTION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Extract 5 core behavioral features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Normalize timestamps &amp; IP geolocations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Calculate 30-day mean &amp; variance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Establish individual user baselines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572000" cy="6583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  <a:latin typeface="Arial"/>
              </a:defRPr>
            </a:pPr>
            <a:r>
              <a:t>STEP 2: ANOMALY CORRELATION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Execute Isolation Forest outlier model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Compute statistical Z-Score metrics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Combine rule-based threat triggers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Assign dynamic risk score (0-100)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296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0" y="2286000"/>
            <a:ext cx="4572000" cy="6583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Arial"/>
              </a:defRPr>
            </a:pPr>
            <a:r>
              <a:t>STEP 3: PLAYBOOK CONTAINMENT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Push WebSocket alerts to SOC UI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Correlate high risk into Incident Ticket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Auto-trigger Lock Account / Force MFA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✦ Log immutable PostgreSQL audit trail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Future Roadmap &amp; AI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38BDF8"/>
                </a:solidFill>
                <a:latin typeface="Arial"/>
              </a:defRPr>
            </a:pPr>
            <a:r>
              <a:t>GenAI Incident Explainer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Integrating LLM agentic summaries to automatically translate complex statistical anomaly vectors into natural-language root-cause incident reports for SOC analysts.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818CF8"/>
                </a:solidFill>
                <a:latin typeface="Arial"/>
              </a:defRPr>
            </a:pPr>
            <a:r>
              <a:t>Graph Neural Network Peer Grouping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Deploying GNN unsupervised clustering to detect cross-departmental lateral movement and multi-account collusion among coordinated insider threats.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296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0B981"/>
                </a:solidFill>
                <a:latin typeface="Arial"/>
              </a:defRPr>
            </a:pPr>
            <a:r>
              <a:t>Enterprise SOAR Integration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Expanding bi-directional webhook connectors for seamless integration with Splunk, Palo Alto Cortex XSOAR, and Microsoft Sentinel enterprise platforms.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Project Team &amp; Key Contributors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9319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33832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Arial"/>
              </a:defRPr>
            </a:pPr>
            <a:r>
              <a:t>Lead Security Architect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System Architecture, Security Threat Modeling &amp; Auth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2011680"/>
            <a:ext cx="39319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33832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Arial"/>
              </a:defRPr>
            </a:pPr>
            <a:r>
              <a:t>ML &amp; Analytics Engineer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UEBA Pipeline, Isolation Forest Models &amp; Z-Score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011680"/>
            <a:ext cx="39319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0" y="2377440"/>
            <a:ext cx="33832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18CF8"/>
                </a:solidFill>
                <a:latin typeface="Arial"/>
              </a:defRPr>
            </a:pPr>
            <a:r>
              <a:t>Data Pipeline Engineer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FastAPI Microservices, Redis Caching &amp; PostgreSQL Baselines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624560" y="2011680"/>
            <a:ext cx="39319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0" y="2377440"/>
            <a:ext cx="33832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Arial"/>
              </a:defRPr>
            </a:pPr>
            <a:r>
              <a:t>Frontend UI/UX Specialist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React + Vite SOC Dashboard, Heatmaps &amp; WebSocket Pushes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Live Application &amp; Project Repository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011680"/>
            <a:ext cx="15544800" cy="6858000"/>
          </a:xfrm>
          <a:prstGeom prst="roundRect">
            <a:avLst/>
          </a:prstGeom>
          <a:solidFill>
            <a:srgbClr val="1E293B"/>
          </a:solidFill>
          <a:ln w="381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1426464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Arial"/>
              </a:defRPr>
            </a:pPr>
            <a:r>
              <a:t>✦ GitHub Repository URL</a:t>
            </a:r>
          </a:p>
          <a:p>
            <a:pPr>
              <a:spcBef>
                <a:spcPts val="800"/>
              </a:spcBef>
              <a:defRPr sz="2400" b="1">
                <a:solidFill>
                  <a:srgbClr val="FFFFFF"/>
                </a:solidFill>
                <a:latin typeface="Arial"/>
              </a:defRPr>
            </a:pPr>
            <a:r>
              <a:t>https://github.com/balaji-16s/insider-threat-behavioral-intelligence-system</a:t>
            </a:r>
          </a:p>
          <a:p>
            <a:pPr>
              <a:spcBef>
                <a:spcPts val="2800"/>
              </a:spcBef>
              <a:defRPr sz="2600" b="1">
                <a:solidFill>
                  <a:srgbClr val="10B981"/>
                </a:solidFill>
                <a:latin typeface="Arial"/>
              </a:defRPr>
            </a:pPr>
            <a:r>
              <a:t>✦ Live System Telemetry Links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2000">
                <a:solidFill>
                  <a:srgbClr val="CBD5E1"/>
                </a:solidFill>
                <a:latin typeface="Arial"/>
              </a:defRPr>
            </a:pPr>
            <a:r>
              <a:t>• Frontend Dashboard UI: http://localhost:5173</a:t>
            </a:r>
            <a:br/>
            <a:r>
              <a:t>• FastAPI OpenAPI Documentation: http://localhost:8000/docs</a:t>
            </a:r>
            <a:br/>
            <a:r>
              <a:t>• Docker Multi-Container Status: 4 Active Services (Backend, Frontend, Postgres, Redis)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682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✦ INSIDER THREAT BEHAVIORAL INTELLIGENCE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682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Technical Discussion &amp; Defense Topics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6824960" cy="36576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38BDF8"/>
                </a:solidFill>
                <a:latin typeface="Arial"/>
              </a:defRPr>
            </a:pPr>
            <a:r>
              <a:t>Multi-Factor Z-Score vs Static Thresholds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Evaluating behavioral deviation against individual 30-day baseline vectors rather than rigid global limits prevents false alerts on scheduled high-volume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BBF24"/>
                </a:solidFill>
                <a:latin typeface="Arial"/>
              </a:defRPr>
            </a:pPr>
            <a:r>
              <a:t>High Throughput Asynchronous Telemetry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Redis Pub/Sub queuing combined with FastAPI async endpoints decouples log ingestion from ML execution, ensuring scalable event streaming without bottlenecking.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2960" y="2011680"/>
            <a:ext cx="5303520" cy="7132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0" y="2377440"/>
            <a:ext cx="45720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0B981"/>
                </a:solidFill>
                <a:latin typeface="Arial"/>
              </a:defRPr>
            </a:pPr>
            <a:r>
              <a:t>Governance &amp; Automated Mitigation</a:t>
            </a:r>
          </a:p>
          <a:p>
            <a:pPr>
              <a:lnSpc>
                <a:spcPct val="130000"/>
              </a:lnSpc>
              <a:spcBef>
                <a:spcPts val="1600"/>
              </a:spcBef>
              <a:defRPr sz="1700">
                <a:solidFill>
                  <a:srgbClr val="CBD5E1"/>
                </a:solidFill>
                <a:latin typeface="Arial"/>
              </a:defRPr>
            </a:pPr>
            <a:r>
              <a:t>Automated playbook containment (Lock Account / Revoke Session) operates with full RBAC access controls and immutable PostgreSQL audit logging for compliance.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15544800" cy="7543800"/>
          </a:xfrm>
          <a:prstGeom prst="roundRect">
            <a:avLst/>
          </a:prstGeom>
          <a:solidFill>
            <a:srgbClr val="1E293B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2560320"/>
            <a:ext cx="13716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1600"/>
              </a:spcBef>
              <a:defRPr sz="2600" b="1">
                <a:solidFill>
                  <a:srgbClr val="38BDF8"/>
                </a:solidFill>
                <a:latin typeface="Arial"/>
              </a:defRPr>
            </a:pPr>
            <a:r>
              <a:t>Insider Threat Behavioral Intelligence System</a:t>
            </a:r>
          </a:p>
          <a:p>
            <a:pPr algn="ctr">
              <a:spcBef>
                <a:spcPts val="1200"/>
              </a:spcBef>
              <a:defRPr sz="2200">
                <a:solidFill>
                  <a:srgbClr val="CBD5E1"/>
                </a:solidFill>
                <a:latin typeface="Arial"/>
              </a:defRPr>
            </a:pPr>
            <a:r>
              <a:t>Questions &amp; Answers | Technical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