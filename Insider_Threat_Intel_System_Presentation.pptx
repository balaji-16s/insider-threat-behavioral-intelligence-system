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_rels/presentation.xml.rels" ContentType="application/vnd.openxmlformats-package.relationships+xml"/>
  <Override PartName="/ppt/media/image10.jpeg" ContentType="image/jpeg"/>
  <Override PartName="/ppt/media/image9.png" ContentType="image/png"/>
  <Override PartName="/ppt/media/image18.png" ContentType="image/png"/>
  <Override PartName="/ppt/media/image20.png" ContentType="image/png"/>
  <Override PartName="/ppt/media/image13.png" ContentType="image/png"/>
  <Override PartName="/ppt/media/image4.png" ContentType="image/png"/>
  <Override PartName="/ppt/media/image12.png" ContentType="image/png"/>
  <Override PartName="/ppt/media/image3.png" ContentType="image/png"/>
  <Override PartName="/ppt/media/image22.png" ContentType="image/png"/>
  <Override PartName="/ppt/media/image21.png" ContentType="image/png"/>
  <Override PartName="/ppt/media/image19.png" ContentType="image/png"/>
  <Override PartName="/ppt/media/image1.png" ContentType="image/png"/>
  <Override PartName="/ppt/media/image5.png" ContentType="image/png"/>
  <Override PartName="/ppt/media/image14.png" ContentType="image/png"/>
  <Override PartName="/ppt/media/image6.png" ContentType="image/png"/>
  <Override PartName="/ppt/media/image15.png" ContentType="image/png"/>
  <Override PartName="/ppt/media/image16.png" ContentType="image/png"/>
  <Override PartName="/ppt/media/image7.png" ContentType="image/png"/>
  <Override PartName="/ppt/media/image2.png" ContentType="image/png"/>
  <Override PartName="/ppt/media/image11.png" ContentType="image/png"/>
  <Override PartName="/ppt/media/image8.png" ContentType="image/png"/>
  <Override PartName="/ppt/media/image17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</p:sldIdLst>
  <p:sldSz cx="18288000" cy="10287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5ADAEF3-BF35-4436-A5AD-268DDEECE7F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80CC84C-0FA7-4500-8F57-EA72D78F767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35F43FCF-F336-4CDC-B02A-7946C29EA28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subTitle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85163268-A01F-4198-94A8-1660D7AA040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D7CED9E4-85F4-4E51-B37B-A2B89295B93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9A3E76AB-BF34-41E3-8377-564EFF8BAF6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04445CA8-2E58-4CF8-A81B-FB92318A2B1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A6E6A6FB-65D0-481D-9315-EAC94F8FA1D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A730F197-9208-4D01-AB7A-3B07E62F91B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9FE11D23-17D2-4FE0-8B5D-96A30E0AA32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1C2F9DDC-E67B-4F9F-9FCE-E202FC4DF4F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AA51932-41B2-4A74-8206-31BA15463C68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b="0" lang="en-IN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 rot="5400000">
            <a:off x="2309400" y="-251640"/>
            <a:ext cx="4525560" cy="8229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4992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FD93722-EC76-428B-9FAA-EFB4D716AFD6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 rot="5400000">
            <a:off x="4732560" y="2171520"/>
            <a:ext cx="5851080" cy="2057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b="0" lang="en-IN" sz="4400" spc="-1" strike="noStrike">
                <a:solidFill>
                  <a:srgbClr val="000000"/>
                </a:solidFill>
                <a:latin typeface="Arial"/>
              </a:rPr>
              <a:t>Click to edit the </a:t>
            </a:r>
            <a:r>
              <a:rPr b="0" lang="en-IN" sz="4400" spc="-1" strike="noStrike">
                <a:solidFill>
                  <a:srgbClr val="000000"/>
                </a:solidFill>
                <a:latin typeface="Arial"/>
              </a:rPr>
              <a:t>title text format</a:t>
            </a: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 rot="5400000">
            <a:off x="541800" y="190080"/>
            <a:ext cx="5851080" cy="6019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C2141D6-4FA9-49ED-B978-751B37D40CB7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b="0" lang="en-IN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2D0DEC2-B98D-4A5C-BCCB-C38E9B5162E9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b="0" lang="en-IN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46539CA-8503-45E3-9FFC-A05F220F2DA5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>
              <a:buNone/>
            </a:pPr>
            <a:r>
              <a:rPr b="0" lang="en-IN" sz="40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N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43472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509B47A-5035-4DE1-AA34-3430FCAC39DE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b="0" lang="en-IN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4983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4983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53BFF79-E75F-43FA-ACAE-5B82ABD6629A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b="0" lang="en-IN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6247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4970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6247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4970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6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7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8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FDC5EA2-EF15-463F-9A9B-A78FDC4507E6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b="0" lang="en-IN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A4C798B-60C2-466B-905F-FD6C5C3AFCC1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>
              <a:buNone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3740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4983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C2D634A-8DD3-451D-A0A5-707BB78BBFD7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>
              <a:buNone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24994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C077847-3D05-4183-84A1-0ADFF02D3CF6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0.jpe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f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84;p1"/>
          <p:cNvSpPr/>
          <p:nvPr/>
        </p:nvSpPr>
        <p:spPr>
          <a:xfrm rot="21511800">
            <a:off x="541800" y="1028520"/>
            <a:ext cx="18930600" cy="8983440"/>
          </a:xfrm>
          <a:custGeom>
            <a:avLst/>
            <a:gdLst>
              <a:gd name="textAreaLeft" fmla="*/ 0 w 18930600"/>
              <a:gd name="textAreaRight" fmla="*/ 18930960 w 18930600"/>
              <a:gd name="textAreaTop" fmla="*/ 0 h 8983440"/>
              <a:gd name="textAreaBottom" fmla="*/ 8983800 h 8983440"/>
            </a:gdLst>
            <a:ahLst/>
            <a:rect l="textAreaLeft" t="textAreaTop" r="textAreaRight" b="textAreaBottom"/>
            <a:pathLst>
              <a:path w="18931100" h="8983668">
                <a:moveTo>
                  <a:pt x="0" y="0"/>
                </a:moveTo>
                <a:lnTo>
                  <a:pt x="18931101" y="0"/>
                </a:lnTo>
                <a:lnTo>
                  <a:pt x="18931101" y="8983668"/>
                </a:lnTo>
                <a:lnTo>
                  <a:pt x="0" y="898366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alphaModFix amt="6800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noAutofit/>
          </a:bodyPr>
          <a:p>
            <a:pPr>
              <a:lnSpc>
                <a:spcPct val="120000"/>
              </a:lnSpc>
            </a:pPr>
            <a:endParaRPr b="0" lang="en-IN" sz="14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68" name="Google Shape;85;p1"/>
          <p:cNvSpPr/>
          <p:nvPr/>
        </p:nvSpPr>
        <p:spPr>
          <a:xfrm>
            <a:off x="10734840" y="785880"/>
            <a:ext cx="7552800" cy="8714880"/>
          </a:xfrm>
          <a:custGeom>
            <a:avLst/>
            <a:gdLst>
              <a:gd name="textAreaLeft" fmla="*/ 0 w 7552800"/>
              <a:gd name="textAreaRight" fmla="*/ 7553160 w 7552800"/>
              <a:gd name="textAreaTop" fmla="*/ 0 h 8714880"/>
              <a:gd name="textAreaBottom" fmla="*/ 8715240 h 8714880"/>
            </a:gdLst>
            <a:ahLst/>
            <a:rect l="textAreaLeft" t="textAreaTop" r="textAreaRight" b="textAreaBottom"/>
            <a:pathLst>
              <a:path w="1202194" h="1387131">
                <a:moveTo>
                  <a:pt x="20499" y="0"/>
                </a:moveTo>
                <a:lnTo>
                  <a:pt x="1181695" y="0"/>
                </a:lnTo>
                <a:cubicBezTo>
                  <a:pt x="1187132" y="0"/>
                  <a:pt x="1192346" y="2160"/>
                  <a:pt x="1196190" y="6004"/>
                </a:cubicBezTo>
                <a:cubicBezTo>
                  <a:pt x="1200035" y="9849"/>
                  <a:pt x="1202194" y="15063"/>
                  <a:pt x="1202194" y="20499"/>
                </a:cubicBezTo>
                <a:lnTo>
                  <a:pt x="1202194" y="1366632"/>
                </a:lnTo>
                <a:cubicBezTo>
                  <a:pt x="1202194" y="1372069"/>
                  <a:pt x="1200035" y="1377283"/>
                  <a:pt x="1196190" y="1381127"/>
                </a:cubicBezTo>
                <a:cubicBezTo>
                  <a:pt x="1192346" y="1384972"/>
                  <a:pt x="1187132" y="1387131"/>
                  <a:pt x="1181695" y="1387131"/>
                </a:cubicBezTo>
                <a:lnTo>
                  <a:pt x="20499" y="1387131"/>
                </a:lnTo>
                <a:cubicBezTo>
                  <a:pt x="9178" y="1387131"/>
                  <a:pt x="0" y="1377954"/>
                  <a:pt x="0" y="1366632"/>
                </a:cubicBezTo>
                <a:lnTo>
                  <a:pt x="0" y="20499"/>
                </a:lnTo>
                <a:cubicBezTo>
                  <a:pt x="0" y="15063"/>
                  <a:pt x="2160" y="9849"/>
                  <a:pt x="6004" y="6004"/>
                </a:cubicBezTo>
                <a:cubicBezTo>
                  <a:pt x="9849" y="2160"/>
                  <a:pt x="15063" y="0"/>
                  <a:pt x="20499" y="0"/>
                </a:cubicBezTo>
                <a:close/>
              </a:path>
            </a:pathLst>
          </a:custGeom>
          <a:blipFill rotWithShape="0">
            <a:blip r:embed="rId2"/>
            <a:srcRect/>
            <a:stretch/>
          </a:blipFill>
          <a:ln cap="sq" w="1905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69" name="Google Shape;86;p1"/>
          <p:cNvGrpSpPr/>
          <p:nvPr/>
        </p:nvGrpSpPr>
        <p:grpSpPr>
          <a:xfrm>
            <a:off x="15741000" y="6462720"/>
            <a:ext cx="3479400" cy="4575600"/>
            <a:chOff x="15741000" y="6462720"/>
            <a:chExt cx="3479400" cy="4575600"/>
          </a:xfrm>
        </p:grpSpPr>
        <p:grpSp>
          <p:nvGrpSpPr>
            <p:cNvPr id="70" name="Google Shape;87;p1"/>
            <p:cNvGrpSpPr/>
            <p:nvPr/>
          </p:nvGrpSpPr>
          <p:grpSpPr>
            <a:xfrm>
              <a:off x="15892200" y="6462720"/>
              <a:ext cx="3328200" cy="3328200"/>
              <a:chOff x="15892200" y="6462720"/>
              <a:chExt cx="3328200" cy="3328200"/>
            </a:xfrm>
          </p:grpSpPr>
          <p:sp>
            <p:nvSpPr>
              <p:cNvPr id="71" name="Google Shape;88;p1"/>
              <p:cNvSpPr/>
              <p:nvPr/>
            </p:nvSpPr>
            <p:spPr>
              <a:xfrm rot="8100000">
                <a:off x="15852240" y="7454880"/>
                <a:ext cx="3331080" cy="1267920"/>
              </a:xfrm>
              <a:custGeom>
                <a:avLst/>
                <a:gdLst>
                  <a:gd name="textAreaLeft" fmla="*/ 0 w 3331080"/>
                  <a:gd name="textAreaRight" fmla="*/ 3331440 w 3331080"/>
                  <a:gd name="textAreaTop" fmla="*/ 0 h 1267920"/>
                  <a:gd name="textAreaBottom" fmla="*/ 1268280 h 1267920"/>
                </a:gdLst>
                <a:ahLst/>
                <a:rect l="textAreaLeft" t="textAreaTop" r="textAreaRight" b="textAreaBottom"/>
                <a:pathLst>
                  <a:path w="882773" h="336039">
                    <a:moveTo>
                      <a:pt x="679573" y="0"/>
                    </a:moveTo>
                    <a:cubicBezTo>
                      <a:pt x="791798" y="0"/>
                      <a:pt x="882773" y="75225"/>
                      <a:pt x="882773" y="168020"/>
                    </a:cubicBezTo>
                    <a:cubicBezTo>
                      <a:pt x="882773" y="260814"/>
                      <a:pt x="791798" y="336039"/>
                      <a:pt x="679573" y="336039"/>
                    </a:cubicBezTo>
                    <a:lnTo>
                      <a:pt x="203200" y="336039"/>
                    </a:lnTo>
                    <a:cubicBezTo>
                      <a:pt x="90976" y="336039"/>
                      <a:pt x="0" y="260814"/>
                      <a:pt x="0" y="168020"/>
                    </a:cubicBezTo>
                    <a:cubicBezTo>
                      <a:pt x="0" y="75225"/>
                      <a:pt x="90976" y="0"/>
                      <a:pt x="203200" y="0"/>
                    </a:cubicBezTo>
                    <a:close/>
                  </a:path>
                </a:pathLst>
              </a:custGeom>
              <a:noFill/>
              <a:ln cap="sq" w="19050">
                <a:solidFill>
                  <a:srgbClr val="d4f592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5720" rIns="45720" tIns="45000" bIns="45000" anchor="ctr">
                <a:noAutofit/>
              </a:bodyPr>
              <a:p>
                <a:pPr>
                  <a:lnSpc>
                    <a:spcPct val="120000"/>
                  </a:lnSpc>
                  <a:tabLst>
                    <a:tab algn="l" pos="0"/>
                  </a:tabLst>
                </a:pPr>
                <a:endParaRPr b="0" lang="en-IN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72" name="Google Shape;89;p1"/>
              <p:cNvSpPr/>
              <p:nvPr/>
            </p:nvSpPr>
            <p:spPr>
              <a:xfrm rot="8100000">
                <a:off x="15890760" y="7439040"/>
                <a:ext cx="3331080" cy="13755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5720" rIns="45720" tIns="45000" bIns="45000" anchor="ctr">
                <a:noAutofit/>
              </a:bodyPr>
              <a:p>
                <a:pPr algn="ctr">
                  <a:lnSpc>
                    <a:spcPct val="120000"/>
                  </a:lnSpc>
                  <a:tabLst>
                    <a:tab algn="l" pos="0"/>
                  </a:tabLst>
                </a:pPr>
                <a:endParaRPr b="0" lang="en-IN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73" name="Google Shape;90;p1"/>
            <p:cNvGrpSpPr/>
            <p:nvPr/>
          </p:nvGrpSpPr>
          <p:grpSpPr>
            <a:xfrm>
              <a:off x="15741000" y="7713360"/>
              <a:ext cx="3324960" cy="3324960"/>
              <a:chOff x="15741000" y="7713360"/>
              <a:chExt cx="3324960" cy="3324960"/>
            </a:xfrm>
          </p:grpSpPr>
          <p:sp>
            <p:nvSpPr>
              <p:cNvPr id="74" name="Google Shape;91;p1"/>
              <p:cNvSpPr/>
              <p:nvPr/>
            </p:nvSpPr>
            <p:spPr>
              <a:xfrm rot="8100000">
                <a:off x="15701040" y="8712000"/>
                <a:ext cx="3353400" cy="1276200"/>
              </a:xfrm>
              <a:custGeom>
                <a:avLst/>
                <a:gdLst>
                  <a:gd name="textAreaLeft" fmla="*/ 0 w 3353400"/>
                  <a:gd name="textAreaRight" fmla="*/ 3353760 w 3353400"/>
                  <a:gd name="textAreaTop" fmla="*/ 0 h 1276200"/>
                  <a:gd name="textAreaBottom" fmla="*/ 1276560 h 1276200"/>
                </a:gdLst>
                <a:ahLst/>
                <a:rect l="textAreaLeft" t="textAreaTop" r="textAreaRight" b="textAreaBottom"/>
                <a:pathLst>
                  <a:path w="882773" h="336039">
                    <a:moveTo>
                      <a:pt x="679573" y="0"/>
                    </a:moveTo>
                    <a:cubicBezTo>
                      <a:pt x="791798" y="0"/>
                      <a:pt x="882773" y="75225"/>
                      <a:pt x="882773" y="168020"/>
                    </a:cubicBezTo>
                    <a:cubicBezTo>
                      <a:pt x="882773" y="260814"/>
                      <a:pt x="791798" y="336039"/>
                      <a:pt x="679573" y="336039"/>
                    </a:cubicBezTo>
                    <a:lnTo>
                      <a:pt x="203200" y="336039"/>
                    </a:lnTo>
                    <a:cubicBezTo>
                      <a:pt x="90976" y="336039"/>
                      <a:pt x="0" y="260814"/>
                      <a:pt x="0" y="168020"/>
                    </a:cubicBezTo>
                    <a:cubicBezTo>
                      <a:pt x="0" y="75225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b0afd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5720" rIns="45720" tIns="45000" bIns="45000" anchor="ctr">
                <a:noAutofit/>
              </a:bodyPr>
              <a:p>
                <a:pPr>
                  <a:lnSpc>
                    <a:spcPct val="120000"/>
                  </a:lnSpc>
                  <a:tabLst>
                    <a:tab algn="l" pos="0"/>
                  </a:tabLst>
                </a:pPr>
                <a:endParaRPr b="0" lang="en-IN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5" name="Google Shape;92;p1"/>
              <p:cNvSpPr/>
              <p:nvPr/>
            </p:nvSpPr>
            <p:spPr>
              <a:xfrm rot="8100000">
                <a:off x="15726600" y="8701200"/>
                <a:ext cx="3353400" cy="13485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5720" rIns="45720" tIns="45000" bIns="45000" anchor="ctr">
                <a:noAutofit/>
              </a:bodyPr>
              <a:p>
                <a:pPr algn="ctr">
                  <a:lnSpc>
                    <a:spcPct val="120000"/>
                  </a:lnSpc>
                  <a:tabLst>
                    <a:tab algn="l" pos="0"/>
                  </a:tabLst>
                </a:pPr>
                <a:endParaRPr b="0" lang="en-IN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</p:grpSp>
      <p:sp>
        <p:nvSpPr>
          <p:cNvPr id="76" name="Google Shape;93;p1"/>
          <p:cNvSpPr/>
          <p:nvPr/>
        </p:nvSpPr>
        <p:spPr>
          <a:xfrm>
            <a:off x="12768840" y="3086280"/>
            <a:ext cx="4489920" cy="4114440"/>
          </a:xfrm>
          <a:custGeom>
            <a:avLst/>
            <a:gdLst>
              <a:gd name="textAreaLeft" fmla="*/ 0 w 4489920"/>
              <a:gd name="textAreaRight" fmla="*/ 4490280 w 4489920"/>
              <a:gd name="textAreaTop" fmla="*/ 0 h 4114440"/>
              <a:gd name="textAreaBottom" fmla="*/ 4114800 h 4114440"/>
            </a:gdLst>
            <a:ahLst/>
            <a:rect l="textAreaLeft" t="textAreaTop" r="textAreaRight" b="textAreaBottom"/>
            <a:pathLst>
              <a:path w="4490357" h="4114800">
                <a:moveTo>
                  <a:pt x="0" y="0"/>
                </a:moveTo>
                <a:lnTo>
                  <a:pt x="4490357" y="0"/>
                </a:lnTo>
                <a:lnTo>
                  <a:pt x="44903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noAutofit/>
          </a:bodyPr>
          <a:p>
            <a:pPr>
              <a:lnSpc>
                <a:spcPct val="120000"/>
              </a:lnSpc>
            </a:pPr>
            <a:endParaRPr b="0" lang="en-IN" sz="14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grpSp>
        <p:nvGrpSpPr>
          <p:cNvPr id="77" name="Google Shape;94;p1"/>
          <p:cNvGrpSpPr/>
          <p:nvPr/>
        </p:nvGrpSpPr>
        <p:grpSpPr>
          <a:xfrm>
            <a:off x="205920" y="3141360"/>
            <a:ext cx="10528200" cy="3147120"/>
            <a:chOff x="205920" y="3141360"/>
            <a:chExt cx="10528200" cy="3147120"/>
          </a:xfrm>
        </p:grpSpPr>
        <p:sp>
          <p:nvSpPr>
            <p:cNvPr id="78" name="Google Shape;95;p1"/>
            <p:cNvSpPr/>
            <p:nvPr/>
          </p:nvSpPr>
          <p:spPr>
            <a:xfrm>
              <a:off x="205920" y="3141360"/>
              <a:ext cx="10528200" cy="1260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5720" rIns="45720" tIns="45000" bIns="45000" anchor="t">
              <a:spAutoFit/>
            </a:bodyPr>
            <a:p>
              <a:pPr>
                <a:lnSpc>
                  <a:spcPct val="120000"/>
                </a:lnSpc>
                <a:tabLst>
                  <a:tab algn="l" pos="0"/>
                </a:tabLst>
              </a:pPr>
              <a:r>
                <a:rPr b="1" lang="en-IN" sz="6400" spc="-1" strike="noStrike">
                  <a:solidFill>
                    <a:srgbClr val="d2eeff"/>
                  </a:solidFill>
                  <a:latin typeface="Arial"/>
                  <a:ea typeface="Arial"/>
                </a:rPr>
                <a:t>Insider Threat Intel System</a:t>
              </a:r>
              <a:endParaRPr b="0" lang="en-IN" sz="6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9" name="Google Shape;96;p1"/>
            <p:cNvSpPr/>
            <p:nvPr/>
          </p:nvSpPr>
          <p:spPr>
            <a:xfrm>
              <a:off x="286920" y="5101560"/>
              <a:ext cx="10306080" cy="1186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5720" rIns="45720" tIns="45000" bIns="45000" anchor="t">
              <a:spAutoFit/>
            </a:bodyPr>
            <a:p>
              <a:pPr>
                <a:lnSpc>
                  <a:spcPct val="120000"/>
                </a:lnSpc>
                <a:tabLst>
                  <a:tab algn="l" pos="0"/>
                </a:tabLst>
              </a:pPr>
              <a:r>
                <a:rPr b="1" lang="en-IN" sz="3000" spc="-1" strike="noStrike">
                  <a:solidFill>
                    <a:srgbClr val="ffffff"/>
                  </a:solidFill>
                  <a:latin typeface="Arial"/>
                  <a:ea typeface="Arial"/>
                </a:rPr>
                <a:t>AI-POWERED USER &amp; ENTITY BEHAVIOR ANALYTICS (UEBA) PLATFORM</a:t>
              </a:r>
              <a:endParaRPr b="0" lang="en-IN" sz="30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f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oogle Shape;101;p2"/>
          <p:cNvGrpSpPr/>
          <p:nvPr/>
        </p:nvGrpSpPr>
        <p:grpSpPr>
          <a:xfrm>
            <a:off x="9488160" y="6795360"/>
            <a:ext cx="4009680" cy="1329120"/>
            <a:chOff x="9488160" y="6795360"/>
            <a:chExt cx="4009680" cy="1329120"/>
          </a:xfrm>
        </p:grpSpPr>
        <p:sp>
          <p:nvSpPr>
            <p:cNvPr id="81" name="Google Shape;102;p2"/>
            <p:cNvSpPr/>
            <p:nvPr/>
          </p:nvSpPr>
          <p:spPr>
            <a:xfrm>
              <a:off x="9488160" y="6795360"/>
              <a:ext cx="4009680" cy="345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5720" rIns="45720" tIns="45000" bIns="45000" anchor="t">
              <a:spAutoFit/>
            </a:bodyPr>
            <a:p>
              <a:pPr algn="ctr">
                <a:lnSpc>
                  <a:spcPct val="120000"/>
                </a:lnSpc>
                <a:tabLst>
                  <a:tab algn="l" pos="0"/>
                </a:tabLst>
              </a:pPr>
              <a:r>
                <a:rPr b="1" lang="en-IN" sz="1400" spc="-1" strike="noStrike">
                  <a:solidFill>
                    <a:srgbClr val="d2eeff"/>
                  </a:solidFill>
                  <a:latin typeface="Arial"/>
                  <a:ea typeface="Arial"/>
                </a:rPr>
                <a:t>FastAPI: High-Performance Async Backend</a:t>
              </a:r>
              <a:endParaRPr b="0" lang="en-IN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2" name="Google Shape;103;p2"/>
            <p:cNvSpPr/>
            <p:nvPr/>
          </p:nvSpPr>
          <p:spPr>
            <a:xfrm>
              <a:off x="9488160" y="7266960"/>
              <a:ext cx="4009680" cy="857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5720" rIns="45720" tIns="45000" bIns="45000" anchor="t">
              <a:spAutoFit/>
            </a:bodyPr>
            <a:p>
              <a:pPr algn="ctr">
                <a:lnSpc>
                  <a:spcPct val="120000"/>
                </a:lnSpc>
                <a:tabLst>
                  <a:tab algn="l" pos="0"/>
                </a:tabLst>
              </a:pPr>
              <a:r>
                <a:rPr b="0" lang="en-IN" sz="1400" spc="-1" strike="noStrike">
                  <a:solidFill>
                    <a:srgbClr val="fdfff8"/>
                  </a:solidFill>
                  <a:latin typeface="Arial"/>
                  <a:ea typeface="Arial"/>
                </a:rPr>
                <a:t>FastAPI delivers asynchronous request handling, Pydantic validation, and automatic OpenAPI documentation for low-latency security telemetry.</a:t>
              </a:r>
              <a:endParaRPr b="0" lang="en-IN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83" name="Google Shape;104;p2"/>
          <p:cNvGrpSpPr/>
          <p:nvPr/>
        </p:nvGrpSpPr>
        <p:grpSpPr>
          <a:xfrm>
            <a:off x="4985280" y="6746400"/>
            <a:ext cx="4009680" cy="1329120"/>
            <a:chOff x="4985280" y="6746400"/>
            <a:chExt cx="4009680" cy="1329120"/>
          </a:xfrm>
        </p:grpSpPr>
        <p:sp>
          <p:nvSpPr>
            <p:cNvPr id="84" name="Google Shape;105;p2"/>
            <p:cNvSpPr/>
            <p:nvPr/>
          </p:nvSpPr>
          <p:spPr>
            <a:xfrm>
              <a:off x="4985280" y="6746400"/>
              <a:ext cx="4009680" cy="345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5720" rIns="45720" tIns="45000" bIns="45000" anchor="t">
              <a:spAutoFit/>
            </a:bodyPr>
            <a:p>
              <a:pPr algn="ctr">
                <a:lnSpc>
                  <a:spcPct val="120000"/>
                </a:lnSpc>
                <a:tabLst>
                  <a:tab algn="l" pos="0"/>
                </a:tabLst>
              </a:pPr>
              <a:r>
                <a:rPr b="1" lang="en-IN" sz="1400" spc="-1" strike="noStrike">
                  <a:solidFill>
                    <a:srgbClr val="d2eeff"/>
                  </a:solidFill>
                  <a:latin typeface="Arial"/>
                  <a:ea typeface="Arial"/>
                </a:rPr>
                <a:t>React + Vite: Dynamic Threat Dashboard</a:t>
              </a:r>
              <a:endParaRPr b="0" lang="en-IN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5" name="Google Shape;106;p2"/>
            <p:cNvSpPr/>
            <p:nvPr/>
          </p:nvSpPr>
          <p:spPr>
            <a:xfrm>
              <a:off x="4985280" y="7218000"/>
              <a:ext cx="4009680" cy="857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5720" rIns="45720" tIns="45000" bIns="45000" anchor="t">
              <a:spAutoFit/>
            </a:bodyPr>
            <a:p>
              <a:pPr algn="ctr">
                <a:lnSpc>
                  <a:spcPct val="120000"/>
                </a:lnSpc>
                <a:tabLst>
                  <a:tab algn="l" pos="0"/>
                </a:tabLst>
              </a:pPr>
              <a:r>
                <a:rPr b="0" lang="en-IN" sz="1400" spc="-1" strike="noStrike">
                  <a:solidFill>
                    <a:srgbClr val="fdfff8"/>
                  </a:solidFill>
                  <a:latin typeface="Arial"/>
                  <a:ea typeface="Arial"/>
                </a:rPr>
                <a:t>React and Vite power modern, responsive threat monitoring user interfaces with interactive analytical charts and live risk indicators.</a:t>
              </a:r>
              <a:endParaRPr b="0" lang="en-IN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86" name="Google Shape;107;p2"/>
          <p:cNvGrpSpPr/>
          <p:nvPr/>
        </p:nvGrpSpPr>
        <p:grpSpPr>
          <a:xfrm>
            <a:off x="384480" y="6746400"/>
            <a:ext cx="4009680" cy="1329120"/>
            <a:chOff x="384480" y="6746400"/>
            <a:chExt cx="4009680" cy="1329120"/>
          </a:xfrm>
        </p:grpSpPr>
        <p:sp>
          <p:nvSpPr>
            <p:cNvPr id="87" name="Google Shape;108;p2"/>
            <p:cNvSpPr/>
            <p:nvPr/>
          </p:nvSpPr>
          <p:spPr>
            <a:xfrm>
              <a:off x="384480" y="6746400"/>
              <a:ext cx="4009680" cy="345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5720" rIns="45720" tIns="45000" bIns="45000" anchor="t">
              <a:spAutoFit/>
            </a:bodyPr>
            <a:p>
              <a:pPr algn="ctr">
                <a:lnSpc>
                  <a:spcPct val="120000"/>
                </a:lnSpc>
                <a:tabLst>
                  <a:tab algn="l" pos="0"/>
                </a:tabLst>
              </a:pPr>
              <a:r>
                <a:rPr b="1" lang="en-IN" sz="1400" spc="-1" strike="noStrike">
                  <a:solidFill>
                    <a:srgbClr val="d2eeff"/>
                  </a:solidFill>
                  <a:latin typeface="Arial"/>
                  <a:ea typeface="Arial"/>
                </a:rPr>
                <a:t>PostgreSQL: Relational Audit &amp; Logs Storage</a:t>
              </a:r>
              <a:endParaRPr b="0" lang="en-IN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8" name="Google Shape;109;p2"/>
            <p:cNvSpPr/>
            <p:nvPr/>
          </p:nvSpPr>
          <p:spPr>
            <a:xfrm>
              <a:off x="384480" y="7218000"/>
              <a:ext cx="4009680" cy="857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5720" rIns="45720" tIns="45000" bIns="45000" anchor="t">
              <a:spAutoFit/>
            </a:bodyPr>
            <a:p>
              <a:pPr algn="ctr">
                <a:lnSpc>
                  <a:spcPct val="120000"/>
                </a:lnSpc>
                <a:tabLst>
                  <a:tab algn="l" pos="0"/>
                </a:tabLst>
              </a:pPr>
              <a:r>
                <a:rPr b="0" lang="en-IN" sz="1400" spc="-1" strike="noStrike">
                  <a:solidFill>
                    <a:srgbClr val="fdfff8"/>
                  </a:solidFill>
                  <a:latin typeface="Arial"/>
                  <a:ea typeface="Arial"/>
                </a:rPr>
                <a:t>PostgreSQL stores user activity logs, entity baseline profiles, threat alert triggers, and historical risk scoring with full relational integrity.</a:t>
              </a:r>
              <a:endParaRPr b="0" lang="en-IN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89" name="Google Shape;110;p2"/>
          <p:cNvSpPr/>
          <p:nvPr/>
        </p:nvSpPr>
        <p:spPr>
          <a:xfrm>
            <a:off x="536400" y="669960"/>
            <a:ext cx="16954200" cy="74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0" lang="en-IN" sz="3600" spc="-1" strike="noStrike">
                <a:solidFill>
                  <a:srgbClr val="d2eeff"/>
                </a:solidFill>
                <a:latin typeface="Arial"/>
                <a:ea typeface="Arial"/>
              </a:rPr>
              <a:t>Technology Stack: Architecture Explained</a:t>
            </a:r>
            <a:endParaRPr b="0" lang="en-IN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Google Shape;111;p2"/>
          <p:cNvSpPr/>
          <p:nvPr/>
        </p:nvSpPr>
        <p:spPr>
          <a:xfrm>
            <a:off x="443520" y="3377160"/>
            <a:ext cx="4046400" cy="2659680"/>
          </a:xfrm>
          <a:custGeom>
            <a:avLst/>
            <a:gdLst>
              <a:gd name="textAreaLeft" fmla="*/ 0 w 4046400"/>
              <a:gd name="textAreaRight" fmla="*/ 4046760 w 4046400"/>
              <a:gd name="textAreaTop" fmla="*/ 0 h 2659680"/>
              <a:gd name="textAreaBottom" fmla="*/ 2660040 h 2659680"/>
            </a:gdLst>
            <a:ahLst/>
            <a:rect l="textAreaLeft" t="textAreaTop" r="textAreaRight" b="textAreaBottom"/>
            <a:pathLst>
              <a:path w="1631088" h="1072184">
                <a:moveTo>
                  <a:pt x="38261" y="0"/>
                </a:moveTo>
                <a:lnTo>
                  <a:pt x="1592828" y="0"/>
                </a:lnTo>
                <a:cubicBezTo>
                  <a:pt x="1613958" y="0"/>
                  <a:pt x="1631088" y="17130"/>
                  <a:pt x="1631088" y="38261"/>
                </a:cubicBezTo>
                <a:lnTo>
                  <a:pt x="1631088" y="1033923"/>
                </a:lnTo>
                <a:cubicBezTo>
                  <a:pt x="1631088" y="1044071"/>
                  <a:pt x="1627057" y="1053802"/>
                  <a:pt x="1619882" y="1060978"/>
                </a:cubicBezTo>
                <a:cubicBezTo>
                  <a:pt x="1612707" y="1068153"/>
                  <a:pt x="1602975" y="1072184"/>
                  <a:pt x="1592828" y="1072184"/>
                </a:cubicBezTo>
                <a:lnTo>
                  <a:pt x="38261" y="1072184"/>
                </a:lnTo>
                <a:cubicBezTo>
                  <a:pt x="28113" y="1072184"/>
                  <a:pt x="18382" y="1068153"/>
                  <a:pt x="11206" y="1060978"/>
                </a:cubicBezTo>
                <a:cubicBezTo>
                  <a:pt x="4031" y="1053802"/>
                  <a:pt x="0" y="1044071"/>
                  <a:pt x="0" y="1033923"/>
                </a:cubicBezTo>
                <a:lnTo>
                  <a:pt x="0" y="38261"/>
                </a:lnTo>
                <a:cubicBezTo>
                  <a:pt x="0" y="28113"/>
                  <a:pt x="4031" y="18382"/>
                  <a:pt x="11206" y="11206"/>
                </a:cubicBezTo>
                <a:cubicBezTo>
                  <a:pt x="18382" y="4031"/>
                  <a:pt x="28113" y="0"/>
                  <a:pt x="38261" y="0"/>
                </a:cubicBezTo>
                <a:close/>
              </a:path>
            </a:pathLst>
          </a:custGeom>
          <a:blipFill rotWithShape="0">
            <a:blip r:embed="rId1"/>
            <a:srcRect/>
            <a:stretch/>
          </a:blipFill>
          <a:ln cap="sq" w="1905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Google Shape;112;p2"/>
          <p:cNvSpPr/>
          <p:nvPr/>
        </p:nvSpPr>
        <p:spPr>
          <a:xfrm>
            <a:off x="4966560" y="3352680"/>
            <a:ext cx="4046400" cy="2659680"/>
          </a:xfrm>
          <a:custGeom>
            <a:avLst/>
            <a:gdLst>
              <a:gd name="textAreaLeft" fmla="*/ 0 w 4046400"/>
              <a:gd name="textAreaRight" fmla="*/ 4046760 w 4046400"/>
              <a:gd name="textAreaTop" fmla="*/ 0 h 2659680"/>
              <a:gd name="textAreaBottom" fmla="*/ 2660040 h 2659680"/>
            </a:gdLst>
            <a:ahLst/>
            <a:rect l="textAreaLeft" t="textAreaTop" r="textAreaRight" b="textAreaBottom"/>
            <a:pathLst>
              <a:path w="1631088" h="1072184">
                <a:moveTo>
                  <a:pt x="38261" y="0"/>
                </a:moveTo>
                <a:lnTo>
                  <a:pt x="1592828" y="0"/>
                </a:lnTo>
                <a:cubicBezTo>
                  <a:pt x="1613958" y="0"/>
                  <a:pt x="1631088" y="17130"/>
                  <a:pt x="1631088" y="38261"/>
                </a:cubicBezTo>
                <a:lnTo>
                  <a:pt x="1631088" y="1033923"/>
                </a:lnTo>
                <a:cubicBezTo>
                  <a:pt x="1631088" y="1044071"/>
                  <a:pt x="1627057" y="1053802"/>
                  <a:pt x="1619882" y="1060978"/>
                </a:cubicBezTo>
                <a:cubicBezTo>
                  <a:pt x="1612707" y="1068153"/>
                  <a:pt x="1602975" y="1072184"/>
                  <a:pt x="1592828" y="1072184"/>
                </a:cubicBezTo>
                <a:lnTo>
                  <a:pt x="38261" y="1072184"/>
                </a:lnTo>
                <a:cubicBezTo>
                  <a:pt x="28113" y="1072184"/>
                  <a:pt x="18382" y="1068153"/>
                  <a:pt x="11206" y="1060978"/>
                </a:cubicBezTo>
                <a:cubicBezTo>
                  <a:pt x="4031" y="1053802"/>
                  <a:pt x="0" y="1044071"/>
                  <a:pt x="0" y="1033923"/>
                </a:cubicBezTo>
                <a:lnTo>
                  <a:pt x="0" y="38261"/>
                </a:lnTo>
                <a:cubicBezTo>
                  <a:pt x="0" y="28113"/>
                  <a:pt x="4031" y="18382"/>
                  <a:pt x="11206" y="11206"/>
                </a:cubicBezTo>
                <a:cubicBezTo>
                  <a:pt x="18382" y="4031"/>
                  <a:pt x="28113" y="0"/>
                  <a:pt x="38261" y="0"/>
                </a:cubicBezTo>
                <a:close/>
              </a:path>
            </a:pathLst>
          </a:custGeom>
          <a:blipFill rotWithShape="0">
            <a:blip r:embed="rId2"/>
            <a:srcRect/>
            <a:stretch/>
          </a:blipFill>
          <a:ln cap="sq" w="1905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Google Shape;113;p2"/>
          <p:cNvSpPr/>
          <p:nvPr/>
        </p:nvSpPr>
        <p:spPr>
          <a:xfrm>
            <a:off x="9488160" y="3352680"/>
            <a:ext cx="4120920" cy="2708640"/>
          </a:xfrm>
          <a:custGeom>
            <a:avLst/>
            <a:gdLst>
              <a:gd name="textAreaLeft" fmla="*/ 0 w 4120920"/>
              <a:gd name="textAreaRight" fmla="*/ 4121280 w 4120920"/>
              <a:gd name="textAreaTop" fmla="*/ 0 h 2708640"/>
              <a:gd name="textAreaBottom" fmla="*/ 2709000 h 2708640"/>
            </a:gdLst>
            <a:ahLst/>
            <a:rect l="textAreaLeft" t="textAreaTop" r="textAreaRight" b="textAreaBottom"/>
            <a:pathLst>
              <a:path w="1631088" h="1072184">
                <a:moveTo>
                  <a:pt x="37570" y="0"/>
                </a:moveTo>
                <a:lnTo>
                  <a:pt x="1593519" y="0"/>
                </a:lnTo>
                <a:cubicBezTo>
                  <a:pt x="1614268" y="0"/>
                  <a:pt x="1631088" y="16821"/>
                  <a:pt x="1631088" y="37570"/>
                </a:cubicBezTo>
                <a:lnTo>
                  <a:pt x="1631088" y="1034614"/>
                </a:lnTo>
                <a:cubicBezTo>
                  <a:pt x="1631088" y="1044578"/>
                  <a:pt x="1627130" y="1054134"/>
                  <a:pt x="1620085" y="1061180"/>
                </a:cubicBezTo>
                <a:cubicBezTo>
                  <a:pt x="1613039" y="1068226"/>
                  <a:pt x="1603483" y="1072184"/>
                  <a:pt x="1593519" y="1072184"/>
                </a:cubicBezTo>
                <a:lnTo>
                  <a:pt x="37570" y="1072184"/>
                </a:lnTo>
                <a:cubicBezTo>
                  <a:pt x="27606" y="1072184"/>
                  <a:pt x="18050" y="1068226"/>
                  <a:pt x="11004" y="1061180"/>
                </a:cubicBezTo>
                <a:cubicBezTo>
                  <a:pt x="3958" y="1054134"/>
                  <a:pt x="0" y="1044578"/>
                  <a:pt x="0" y="1034614"/>
                </a:cubicBezTo>
                <a:lnTo>
                  <a:pt x="0" y="37570"/>
                </a:lnTo>
                <a:cubicBezTo>
                  <a:pt x="0" y="27606"/>
                  <a:pt x="3958" y="18050"/>
                  <a:pt x="11004" y="11004"/>
                </a:cubicBezTo>
                <a:cubicBezTo>
                  <a:pt x="18050" y="3958"/>
                  <a:pt x="27606" y="0"/>
                  <a:pt x="37570" y="0"/>
                </a:cubicBezTo>
                <a:close/>
              </a:path>
            </a:pathLst>
          </a:custGeom>
          <a:blipFill rotWithShape="0">
            <a:blip r:embed="rId3"/>
            <a:srcRect/>
            <a:stretch/>
          </a:blipFill>
          <a:ln cap="sq" w="1905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Google Shape;114;p2"/>
          <p:cNvSpPr/>
          <p:nvPr/>
        </p:nvSpPr>
        <p:spPr>
          <a:xfrm>
            <a:off x="14085720" y="3352680"/>
            <a:ext cx="4046400" cy="2659680"/>
          </a:xfrm>
          <a:custGeom>
            <a:avLst/>
            <a:gdLst>
              <a:gd name="textAreaLeft" fmla="*/ 0 w 4046400"/>
              <a:gd name="textAreaRight" fmla="*/ 4046760 w 4046400"/>
              <a:gd name="textAreaTop" fmla="*/ 0 h 2659680"/>
              <a:gd name="textAreaBottom" fmla="*/ 2660040 h 2659680"/>
            </a:gdLst>
            <a:ahLst/>
            <a:rect l="textAreaLeft" t="textAreaTop" r="textAreaRight" b="textAreaBottom"/>
            <a:pathLst>
              <a:path w="1631088" h="1072184">
                <a:moveTo>
                  <a:pt x="38261" y="0"/>
                </a:moveTo>
                <a:lnTo>
                  <a:pt x="1592828" y="0"/>
                </a:lnTo>
                <a:cubicBezTo>
                  <a:pt x="1613958" y="0"/>
                  <a:pt x="1631088" y="17130"/>
                  <a:pt x="1631088" y="38261"/>
                </a:cubicBezTo>
                <a:lnTo>
                  <a:pt x="1631088" y="1033923"/>
                </a:lnTo>
                <a:cubicBezTo>
                  <a:pt x="1631088" y="1044071"/>
                  <a:pt x="1627057" y="1053802"/>
                  <a:pt x="1619882" y="1060978"/>
                </a:cubicBezTo>
                <a:cubicBezTo>
                  <a:pt x="1612707" y="1068153"/>
                  <a:pt x="1602975" y="1072184"/>
                  <a:pt x="1592828" y="1072184"/>
                </a:cubicBezTo>
                <a:lnTo>
                  <a:pt x="38261" y="1072184"/>
                </a:lnTo>
                <a:cubicBezTo>
                  <a:pt x="28113" y="1072184"/>
                  <a:pt x="18382" y="1068153"/>
                  <a:pt x="11206" y="1060978"/>
                </a:cubicBezTo>
                <a:cubicBezTo>
                  <a:pt x="4031" y="1053802"/>
                  <a:pt x="0" y="1044071"/>
                  <a:pt x="0" y="1033923"/>
                </a:cubicBezTo>
                <a:lnTo>
                  <a:pt x="0" y="38261"/>
                </a:lnTo>
                <a:cubicBezTo>
                  <a:pt x="0" y="28113"/>
                  <a:pt x="4031" y="18382"/>
                  <a:pt x="11206" y="11206"/>
                </a:cubicBezTo>
                <a:cubicBezTo>
                  <a:pt x="18382" y="4031"/>
                  <a:pt x="28113" y="0"/>
                  <a:pt x="38261" y="0"/>
                </a:cubicBezTo>
                <a:close/>
              </a:path>
            </a:pathLst>
          </a:custGeom>
          <a:blipFill rotWithShape="0">
            <a:blip r:embed="rId4"/>
            <a:srcRect/>
            <a:stretch/>
          </a:blipFill>
          <a:ln cap="sq" w="1905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94" name="Google Shape;115;p2"/>
          <p:cNvGrpSpPr/>
          <p:nvPr/>
        </p:nvGrpSpPr>
        <p:grpSpPr>
          <a:xfrm>
            <a:off x="14085720" y="6746400"/>
            <a:ext cx="4009680" cy="1624320"/>
            <a:chOff x="14085720" y="6746400"/>
            <a:chExt cx="4009680" cy="1624320"/>
          </a:xfrm>
        </p:grpSpPr>
        <p:sp>
          <p:nvSpPr>
            <p:cNvPr id="95" name="Google Shape;116;p2"/>
            <p:cNvSpPr/>
            <p:nvPr/>
          </p:nvSpPr>
          <p:spPr>
            <a:xfrm>
              <a:off x="14085720" y="6746400"/>
              <a:ext cx="4009680" cy="345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5720" rIns="45720" tIns="45000" bIns="45000" anchor="t">
              <a:spAutoFit/>
            </a:bodyPr>
            <a:p>
              <a:pPr algn="ctr">
                <a:lnSpc>
                  <a:spcPct val="120000"/>
                </a:lnSpc>
                <a:tabLst>
                  <a:tab algn="l" pos="0"/>
                </a:tabLst>
              </a:pPr>
              <a:r>
                <a:rPr b="1" lang="en-IN" sz="1400" spc="-1" strike="noStrike">
                  <a:solidFill>
                    <a:srgbClr val="d2eeff"/>
                  </a:solidFill>
                  <a:latin typeface="Arial"/>
                  <a:ea typeface="Arial"/>
                </a:rPr>
                <a:t>Redis: In-Memory Streaming &amp; Cache</a:t>
              </a:r>
              <a:endParaRPr b="0" lang="en-IN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6" name="Google Shape;117;p2"/>
            <p:cNvSpPr/>
            <p:nvPr/>
          </p:nvSpPr>
          <p:spPr>
            <a:xfrm>
              <a:off x="14085720" y="7513200"/>
              <a:ext cx="4009680" cy="857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5720" rIns="45720" tIns="45000" bIns="45000" anchor="t">
              <a:spAutoFit/>
            </a:bodyPr>
            <a:p>
              <a:pPr algn="ctr">
                <a:lnSpc>
                  <a:spcPct val="120000"/>
                </a:lnSpc>
                <a:tabLst>
                  <a:tab algn="l" pos="0"/>
                </a:tabLst>
              </a:pPr>
              <a:r>
                <a:rPr b="0" lang="en-IN" sz="1400" spc="-1" strike="noStrike">
                  <a:solidFill>
                    <a:srgbClr val="fdfff8"/>
                  </a:solidFill>
                  <a:latin typeface="Arial"/>
                  <a:ea typeface="Arial"/>
                </a:rPr>
                <a:t>Redis enables high-speed session management, rapid risk score lookups, and real-time buffering of incoming user action events.</a:t>
              </a:r>
              <a:endParaRPr b="0" lang="en-IN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97" name="Google Shape;118;p2"/>
          <p:cNvSpPr/>
          <p:nvPr/>
        </p:nvSpPr>
        <p:spPr>
          <a:xfrm>
            <a:off x="15237000" y="4067280"/>
            <a:ext cx="803520" cy="1054080"/>
          </a:xfrm>
          <a:custGeom>
            <a:avLst/>
            <a:gdLst>
              <a:gd name="textAreaLeft" fmla="*/ 0 w 803520"/>
              <a:gd name="textAreaRight" fmla="*/ 803880 w 803520"/>
              <a:gd name="textAreaTop" fmla="*/ 0 h 1054080"/>
              <a:gd name="textAreaBottom" fmla="*/ 1054440 h 1054080"/>
            </a:gdLst>
            <a:ahLst/>
            <a:rect l="textAreaLeft" t="textAreaTop" r="textAreaRight" b="textAreaBottom"/>
            <a:pathLst>
              <a:path w="1071880" h="1405890">
                <a:moveTo>
                  <a:pt x="410210" y="889000"/>
                </a:moveTo>
                <a:cubicBezTo>
                  <a:pt x="341630" y="880110"/>
                  <a:pt x="336550" y="925830"/>
                  <a:pt x="314960" y="955040"/>
                </a:cubicBezTo>
                <a:cubicBezTo>
                  <a:pt x="285750" y="995680"/>
                  <a:pt x="241300" y="1066800"/>
                  <a:pt x="191770" y="1084580"/>
                </a:cubicBezTo>
                <a:cubicBezTo>
                  <a:pt x="146050" y="1102360"/>
                  <a:pt x="62230" y="1098550"/>
                  <a:pt x="33020" y="1071880"/>
                </a:cubicBezTo>
                <a:cubicBezTo>
                  <a:pt x="6350" y="1049020"/>
                  <a:pt x="11430" y="991870"/>
                  <a:pt x="7620" y="955040"/>
                </a:cubicBezTo>
                <a:cubicBezTo>
                  <a:pt x="3810" y="924560"/>
                  <a:pt x="0" y="902970"/>
                  <a:pt x="6350" y="868680"/>
                </a:cubicBezTo>
                <a:cubicBezTo>
                  <a:pt x="17780" y="816610"/>
                  <a:pt x="63500" y="751840"/>
                  <a:pt x="96520" y="675640"/>
                </a:cubicBezTo>
                <a:cubicBezTo>
                  <a:pt x="143510" y="563880"/>
                  <a:pt x="198120" y="379730"/>
                  <a:pt x="254000" y="265430"/>
                </a:cubicBezTo>
                <a:cubicBezTo>
                  <a:pt x="298450" y="175260"/>
                  <a:pt x="360680" y="71120"/>
                  <a:pt x="392430" y="34290"/>
                </a:cubicBezTo>
                <a:cubicBezTo>
                  <a:pt x="403860" y="21590"/>
                  <a:pt x="408940" y="15240"/>
                  <a:pt x="420370" y="11430"/>
                </a:cubicBezTo>
                <a:cubicBezTo>
                  <a:pt x="435610" y="5080"/>
                  <a:pt x="458470" y="0"/>
                  <a:pt x="476250" y="6350"/>
                </a:cubicBezTo>
                <a:cubicBezTo>
                  <a:pt x="495300" y="12700"/>
                  <a:pt x="521970" y="35560"/>
                  <a:pt x="528320" y="55880"/>
                </a:cubicBezTo>
                <a:cubicBezTo>
                  <a:pt x="534670" y="76200"/>
                  <a:pt x="516890" y="101600"/>
                  <a:pt x="516890" y="127000"/>
                </a:cubicBezTo>
                <a:cubicBezTo>
                  <a:pt x="518160" y="157480"/>
                  <a:pt x="537210" y="185420"/>
                  <a:pt x="539750" y="227330"/>
                </a:cubicBezTo>
                <a:cubicBezTo>
                  <a:pt x="543560" y="293370"/>
                  <a:pt x="524510" y="394970"/>
                  <a:pt x="511810" y="483870"/>
                </a:cubicBezTo>
                <a:cubicBezTo>
                  <a:pt x="497840" y="579120"/>
                  <a:pt x="466090" y="666750"/>
                  <a:pt x="455930" y="781050"/>
                </a:cubicBezTo>
                <a:cubicBezTo>
                  <a:pt x="440690" y="932180"/>
                  <a:pt x="468630" y="1230630"/>
                  <a:pt x="452120" y="1313180"/>
                </a:cubicBezTo>
                <a:cubicBezTo>
                  <a:pt x="448310" y="1339850"/>
                  <a:pt x="443230" y="1351280"/>
                  <a:pt x="433070" y="1362710"/>
                </a:cubicBezTo>
                <a:cubicBezTo>
                  <a:pt x="425450" y="1372870"/>
                  <a:pt x="416560" y="1380490"/>
                  <a:pt x="403860" y="1384300"/>
                </a:cubicBezTo>
                <a:cubicBezTo>
                  <a:pt x="388620" y="1388110"/>
                  <a:pt x="364490" y="1388110"/>
                  <a:pt x="350520" y="1384300"/>
                </a:cubicBezTo>
                <a:cubicBezTo>
                  <a:pt x="337820" y="1380490"/>
                  <a:pt x="328930" y="1372870"/>
                  <a:pt x="321310" y="1362710"/>
                </a:cubicBezTo>
                <a:cubicBezTo>
                  <a:pt x="311150" y="1351280"/>
                  <a:pt x="306070" y="1338580"/>
                  <a:pt x="302260" y="1313180"/>
                </a:cubicBezTo>
                <a:cubicBezTo>
                  <a:pt x="289560" y="1247140"/>
                  <a:pt x="290830" y="1035050"/>
                  <a:pt x="303530" y="944880"/>
                </a:cubicBezTo>
                <a:cubicBezTo>
                  <a:pt x="311150" y="890270"/>
                  <a:pt x="330200" y="866140"/>
                  <a:pt x="341630" y="815340"/>
                </a:cubicBezTo>
                <a:cubicBezTo>
                  <a:pt x="356870" y="746760"/>
                  <a:pt x="372110" y="646430"/>
                  <a:pt x="379730" y="566420"/>
                </a:cubicBezTo>
                <a:cubicBezTo>
                  <a:pt x="387350" y="492760"/>
                  <a:pt x="392430" y="355600"/>
                  <a:pt x="388620" y="355600"/>
                </a:cubicBezTo>
                <a:cubicBezTo>
                  <a:pt x="386080" y="355600"/>
                  <a:pt x="383540" y="410210"/>
                  <a:pt x="373380" y="450850"/>
                </a:cubicBezTo>
                <a:cubicBezTo>
                  <a:pt x="354330" y="528320"/>
                  <a:pt x="273050" y="692150"/>
                  <a:pt x="257810" y="774700"/>
                </a:cubicBezTo>
                <a:cubicBezTo>
                  <a:pt x="248920" y="824230"/>
                  <a:pt x="247650" y="894080"/>
                  <a:pt x="254000" y="895350"/>
                </a:cubicBezTo>
                <a:cubicBezTo>
                  <a:pt x="259080" y="896620"/>
                  <a:pt x="271780" y="830580"/>
                  <a:pt x="290830" y="792480"/>
                </a:cubicBezTo>
                <a:cubicBezTo>
                  <a:pt x="314960" y="742950"/>
                  <a:pt x="367030" y="685800"/>
                  <a:pt x="397510" y="627380"/>
                </a:cubicBezTo>
                <a:cubicBezTo>
                  <a:pt x="427990" y="567690"/>
                  <a:pt x="447040" y="483870"/>
                  <a:pt x="472440" y="435610"/>
                </a:cubicBezTo>
                <a:cubicBezTo>
                  <a:pt x="490220" y="402590"/>
                  <a:pt x="506730" y="374650"/>
                  <a:pt x="524510" y="359410"/>
                </a:cubicBezTo>
                <a:cubicBezTo>
                  <a:pt x="535940" y="349250"/>
                  <a:pt x="546100" y="344170"/>
                  <a:pt x="560070" y="342900"/>
                </a:cubicBezTo>
                <a:cubicBezTo>
                  <a:pt x="576580" y="340360"/>
                  <a:pt x="600710" y="342900"/>
                  <a:pt x="617220" y="353060"/>
                </a:cubicBezTo>
                <a:cubicBezTo>
                  <a:pt x="635000" y="364490"/>
                  <a:pt x="654050" y="389890"/>
                  <a:pt x="656590" y="417830"/>
                </a:cubicBezTo>
                <a:cubicBezTo>
                  <a:pt x="660400" y="461010"/>
                  <a:pt x="594360" y="542290"/>
                  <a:pt x="581660" y="594360"/>
                </a:cubicBezTo>
                <a:cubicBezTo>
                  <a:pt x="572770" y="633730"/>
                  <a:pt x="586740" y="661670"/>
                  <a:pt x="576580" y="699770"/>
                </a:cubicBezTo>
                <a:cubicBezTo>
                  <a:pt x="563880" y="750570"/>
                  <a:pt x="509270" y="807720"/>
                  <a:pt x="492760" y="867410"/>
                </a:cubicBezTo>
                <a:cubicBezTo>
                  <a:pt x="476250" y="929640"/>
                  <a:pt x="497840" y="1026160"/>
                  <a:pt x="478790" y="1064260"/>
                </a:cubicBezTo>
                <a:cubicBezTo>
                  <a:pt x="468630" y="1085850"/>
                  <a:pt x="449580" y="1096010"/>
                  <a:pt x="434340" y="1102360"/>
                </a:cubicBezTo>
                <a:cubicBezTo>
                  <a:pt x="421640" y="1108710"/>
                  <a:pt x="408940" y="1109980"/>
                  <a:pt x="394970" y="1107440"/>
                </a:cubicBezTo>
                <a:cubicBezTo>
                  <a:pt x="379730" y="1103630"/>
                  <a:pt x="355600" y="1093470"/>
                  <a:pt x="344170" y="1079500"/>
                </a:cubicBezTo>
                <a:cubicBezTo>
                  <a:pt x="332740" y="1065530"/>
                  <a:pt x="322580" y="1043940"/>
                  <a:pt x="323850" y="1024890"/>
                </a:cubicBezTo>
                <a:cubicBezTo>
                  <a:pt x="326390" y="998220"/>
                  <a:pt x="365760" y="966470"/>
                  <a:pt x="374650" y="935990"/>
                </a:cubicBezTo>
                <a:cubicBezTo>
                  <a:pt x="382270" y="906780"/>
                  <a:pt x="373380" y="877570"/>
                  <a:pt x="377190" y="845820"/>
                </a:cubicBezTo>
                <a:cubicBezTo>
                  <a:pt x="382270" y="811530"/>
                  <a:pt x="389890" y="773430"/>
                  <a:pt x="402590" y="736600"/>
                </a:cubicBezTo>
                <a:cubicBezTo>
                  <a:pt x="416560" y="697230"/>
                  <a:pt x="445770" y="664210"/>
                  <a:pt x="458470" y="617220"/>
                </a:cubicBezTo>
                <a:cubicBezTo>
                  <a:pt x="474980" y="556260"/>
                  <a:pt x="454660" y="438150"/>
                  <a:pt x="480060" y="396240"/>
                </a:cubicBezTo>
                <a:cubicBezTo>
                  <a:pt x="495300" y="370840"/>
                  <a:pt x="521970" y="355600"/>
                  <a:pt x="543560" y="354330"/>
                </a:cubicBezTo>
                <a:cubicBezTo>
                  <a:pt x="566420" y="351790"/>
                  <a:pt x="599440" y="367030"/>
                  <a:pt x="614680" y="382270"/>
                </a:cubicBezTo>
                <a:cubicBezTo>
                  <a:pt x="627380" y="396240"/>
                  <a:pt x="628650" y="407670"/>
                  <a:pt x="633730" y="436880"/>
                </a:cubicBezTo>
                <a:cubicBezTo>
                  <a:pt x="652780" y="544830"/>
                  <a:pt x="671830" y="1107440"/>
                  <a:pt x="631190" y="1215390"/>
                </a:cubicBezTo>
                <a:cubicBezTo>
                  <a:pt x="618490" y="1248410"/>
                  <a:pt x="601980" y="1262380"/>
                  <a:pt x="580390" y="1271270"/>
                </a:cubicBezTo>
                <a:cubicBezTo>
                  <a:pt x="560070" y="1278890"/>
                  <a:pt x="524510" y="1273810"/>
                  <a:pt x="506730" y="1262380"/>
                </a:cubicBezTo>
                <a:cubicBezTo>
                  <a:pt x="488950" y="1249680"/>
                  <a:pt x="472440" y="1226820"/>
                  <a:pt x="472440" y="1195070"/>
                </a:cubicBezTo>
                <a:cubicBezTo>
                  <a:pt x="469900" y="1123950"/>
                  <a:pt x="589280" y="956310"/>
                  <a:pt x="633730" y="839470"/>
                </a:cubicBezTo>
                <a:cubicBezTo>
                  <a:pt x="674370" y="731520"/>
                  <a:pt x="697230" y="607060"/>
                  <a:pt x="730250" y="519430"/>
                </a:cubicBezTo>
                <a:cubicBezTo>
                  <a:pt x="754380" y="454660"/>
                  <a:pt x="781050" y="383540"/>
                  <a:pt x="805180" y="354330"/>
                </a:cubicBezTo>
                <a:cubicBezTo>
                  <a:pt x="815340" y="341630"/>
                  <a:pt x="822960" y="336550"/>
                  <a:pt x="835660" y="332740"/>
                </a:cubicBezTo>
                <a:cubicBezTo>
                  <a:pt x="850900" y="327660"/>
                  <a:pt x="875030" y="325120"/>
                  <a:pt x="891540" y="331470"/>
                </a:cubicBezTo>
                <a:cubicBezTo>
                  <a:pt x="908050" y="337820"/>
                  <a:pt x="925830" y="354330"/>
                  <a:pt x="934720" y="368300"/>
                </a:cubicBezTo>
                <a:cubicBezTo>
                  <a:pt x="941070" y="378460"/>
                  <a:pt x="944880" y="386080"/>
                  <a:pt x="943610" y="403860"/>
                </a:cubicBezTo>
                <a:cubicBezTo>
                  <a:pt x="943610" y="458470"/>
                  <a:pt x="868680" y="640080"/>
                  <a:pt x="852170" y="722630"/>
                </a:cubicBezTo>
                <a:cubicBezTo>
                  <a:pt x="842010" y="773430"/>
                  <a:pt x="840740" y="803910"/>
                  <a:pt x="836930" y="849630"/>
                </a:cubicBezTo>
                <a:cubicBezTo>
                  <a:pt x="833120" y="900430"/>
                  <a:pt x="825500" y="955040"/>
                  <a:pt x="833120" y="1014730"/>
                </a:cubicBezTo>
                <a:cubicBezTo>
                  <a:pt x="843280" y="1084580"/>
                  <a:pt x="911860" y="1191260"/>
                  <a:pt x="901700" y="1240790"/>
                </a:cubicBezTo>
                <a:cubicBezTo>
                  <a:pt x="895350" y="1270000"/>
                  <a:pt x="859790" y="1304290"/>
                  <a:pt x="849630" y="1299210"/>
                </a:cubicBezTo>
                <a:cubicBezTo>
                  <a:pt x="829310" y="1290320"/>
                  <a:pt x="873760" y="1096010"/>
                  <a:pt x="881380" y="971550"/>
                </a:cubicBezTo>
                <a:cubicBezTo>
                  <a:pt x="890270" y="808990"/>
                  <a:pt x="850900" y="486410"/>
                  <a:pt x="892810" y="408940"/>
                </a:cubicBezTo>
                <a:cubicBezTo>
                  <a:pt x="908050" y="381000"/>
                  <a:pt x="932180" y="372110"/>
                  <a:pt x="952500" y="368300"/>
                </a:cubicBezTo>
                <a:cubicBezTo>
                  <a:pt x="970280" y="364490"/>
                  <a:pt x="991870" y="373380"/>
                  <a:pt x="1005840" y="381000"/>
                </a:cubicBezTo>
                <a:cubicBezTo>
                  <a:pt x="1016000" y="388620"/>
                  <a:pt x="1023620" y="393700"/>
                  <a:pt x="1029970" y="408940"/>
                </a:cubicBezTo>
                <a:cubicBezTo>
                  <a:pt x="1045210" y="447040"/>
                  <a:pt x="1028700" y="584200"/>
                  <a:pt x="1040130" y="638810"/>
                </a:cubicBezTo>
                <a:cubicBezTo>
                  <a:pt x="1047750" y="670560"/>
                  <a:pt x="1066800" y="690880"/>
                  <a:pt x="1069340" y="713740"/>
                </a:cubicBezTo>
                <a:cubicBezTo>
                  <a:pt x="1071880" y="731520"/>
                  <a:pt x="1069340" y="749300"/>
                  <a:pt x="1061720" y="763270"/>
                </a:cubicBezTo>
                <a:cubicBezTo>
                  <a:pt x="1054100" y="778510"/>
                  <a:pt x="1038860" y="792480"/>
                  <a:pt x="1024890" y="798830"/>
                </a:cubicBezTo>
                <a:cubicBezTo>
                  <a:pt x="1009650" y="806450"/>
                  <a:pt x="990600" y="810260"/>
                  <a:pt x="974090" y="805180"/>
                </a:cubicBezTo>
                <a:cubicBezTo>
                  <a:pt x="953770" y="798830"/>
                  <a:pt x="925830" y="775970"/>
                  <a:pt x="916940" y="756920"/>
                </a:cubicBezTo>
                <a:cubicBezTo>
                  <a:pt x="909320" y="741680"/>
                  <a:pt x="908050" y="721360"/>
                  <a:pt x="913130" y="706120"/>
                </a:cubicBezTo>
                <a:cubicBezTo>
                  <a:pt x="920750" y="685800"/>
                  <a:pt x="943610" y="657860"/>
                  <a:pt x="965200" y="651510"/>
                </a:cubicBezTo>
                <a:cubicBezTo>
                  <a:pt x="985520" y="643890"/>
                  <a:pt x="1021080" y="648970"/>
                  <a:pt x="1038860" y="662940"/>
                </a:cubicBezTo>
                <a:cubicBezTo>
                  <a:pt x="1056640" y="675640"/>
                  <a:pt x="1069340" y="709930"/>
                  <a:pt x="1070610" y="730250"/>
                </a:cubicBezTo>
                <a:cubicBezTo>
                  <a:pt x="1070610" y="748030"/>
                  <a:pt x="1062990" y="765810"/>
                  <a:pt x="1051560" y="778510"/>
                </a:cubicBezTo>
                <a:cubicBezTo>
                  <a:pt x="1041400" y="789940"/>
                  <a:pt x="1023620" y="801370"/>
                  <a:pt x="1008380" y="805180"/>
                </a:cubicBezTo>
                <a:cubicBezTo>
                  <a:pt x="993140" y="807720"/>
                  <a:pt x="972820" y="806450"/>
                  <a:pt x="957580" y="800100"/>
                </a:cubicBezTo>
                <a:cubicBezTo>
                  <a:pt x="942340" y="792480"/>
                  <a:pt x="930910" y="782320"/>
                  <a:pt x="920750" y="764540"/>
                </a:cubicBezTo>
                <a:cubicBezTo>
                  <a:pt x="902970" y="736600"/>
                  <a:pt x="889000" y="687070"/>
                  <a:pt x="882650" y="638810"/>
                </a:cubicBezTo>
                <a:cubicBezTo>
                  <a:pt x="875030" y="574040"/>
                  <a:pt x="872490" y="450850"/>
                  <a:pt x="892810" y="408940"/>
                </a:cubicBezTo>
                <a:cubicBezTo>
                  <a:pt x="902970" y="388620"/>
                  <a:pt x="919480" y="379730"/>
                  <a:pt x="933450" y="372110"/>
                </a:cubicBezTo>
                <a:cubicBezTo>
                  <a:pt x="946150" y="367030"/>
                  <a:pt x="958850" y="367030"/>
                  <a:pt x="970280" y="368300"/>
                </a:cubicBezTo>
                <a:cubicBezTo>
                  <a:pt x="982980" y="369570"/>
                  <a:pt x="995680" y="373380"/>
                  <a:pt x="1005840" y="381000"/>
                </a:cubicBezTo>
                <a:cubicBezTo>
                  <a:pt x="1017270" y="391160"/>
                  <a:pt x="1028700" y="401320"/>
                  <a:pt x="1036320" y="426720"/>
                </a:cubicBezTo>
                <a:cubicBezTo>
                  <a:pt x="1061720" y="506730"/>
                  <a:pt x="1045210" y="825500"/>
                  <a:pt x="1037590" y="979170"/>
                </a:cubicBezTo>
                <a:cubicBezTo>
                  <a:pt x="1031240" y="1090930"/>
                  <a:pt x="1022350" y="1195070"/>
                  <a:pt x="1007110" y="1266190"/>
                </a:cubicBezTo>
                <a:cubicBezTo>
                  <a:pt x="998220" y="1310640"/>
                  <a:pt x="998220" y="1347470"/>
                  <a:pt x="972820" y="1369060"/>
                </a:cubicBezTo>
                <a:cubicBezTo>
                  <a:pt x="944880" y="1393190"/>
                  <a:pt x="877570" y="1405890"/>
                  <a:pt x="840740" y="1393190"/>
                </a:cubicBezTo>
                <a:cubicBezTo>
                  <a:pt x="805180" y="1380490"/>
                  <a:pt x="779780" y="1338580"/>
                  <a:pt x="756920" y="1292860"/>
                </a:cubicBezTo>
                <a:cubicBezTo>
                  <a:pt x="721360" y="1226820"/>
                  <a:pt x="692150" y="1096010"/>
                  <a:pt x="681990" y="1013460"/>
                </a:cubicBezTo>
                <a:cubicBezTo>
                  <a:pt x="674370" y="949960"/>
                  <a:pt x="680720" y="895350"/>
                  <a:pt x="684530" y="839470"/>
                </a:cubicBezTo>
                <a:cubicBezTo>
                  <a:pt x="688340" y="786130"/>
                  <a:pt x="690880" y="745490"/>
                  <a:pt x="703580" y="684530"/>
                </a:cubicBezTo>
                <a:cubicBezTo>
                  <a:pt x="722630" y="594360"/>
                  <a:pt x="765810" y="402590"/>
                  <a:pt x="805180" y="354330"/>
                </a:cubicBezTo>
                <a:cubicBezTo>
                  <a:pt x="820420" y="335280"/>
                  <a:pt x="836930" y="330200"/>
                  <a:pt x="853440" y="327660"/>
                </a:cubicBezTo>
                <a:cubicBezTo>
                  <a:pt x="871220" y="325120"/>
                  <a:pt x="894080" y="330200"/>
                  <a:pt x="909320" y="340360"/>
                </a:cubicBezTo>
                <a:cubicBezTo>
                  <a:pt x="923290" y="349250"/>
                  <a:pt x="935990" y="370840"/>
                  <a:pt x="941070" y="386080"/>
                </a:cubicBezTo>
                <a:cubicBezTo>
                  <a:pt x="946150" y="397510"/>
                  <a:pt x="946150" y="406400"/>
                  <a:pt x="942340" y="422910"/>
                </a:cubicBezTo>
                <a:cubicBezTo>
                  <a:pt x="933450" y="462280"/>
                  <a:pt x="877570" y="544830"/>
                  <a:pt x="855980" y="608330"/>
                </a:cubicBezTo>
                <a:cubicBezTo>
                  <a:pt x="833120" y="674370"/>
                  <a:pt x="830580" y="737870"/>
                  <a:pt x="807720" y="812800"/>
                </a:cubicBezTo>
                <a:cubicBezTo>
                  <a:pt x="778510" y="909320"/>
                  <a:pt x="725170" y="1054100"/>
                  <a:pt x="683260" y="1135380"/>
                </a:cubicBezTo>
                <a:cubicBezTo>
                  <a:pt x="655320" y="1188720"/>
                  <a:pt x="623570" y="1242060"/>
                  <a:pt x="598170" y="1262380"/>
                </a:cubicBezTo>
                <a:cubicBezTo>
                  <a:pt x="585470" y="1272540"/>
                  <a:pt x="575310" y="1275080"/>
                  <a:pt x="562610" y="1275080"/>
                </a:cubicBezTo>
                <a:cubicBezTo>
                  <a:pt x="546100" y="1276350"/>
                  <a:pt x="521970" y="1273810"/>
                  <a:pt x="506730" y="1262380"/>
                </a:cubicBezTo>
                <a:cubicBezTo>
                  <a:pt x="490220" y="1248410"/>
                  <a:pt x="481330" y="1231900"/>
                  <a:pt x="472440" y="1195070"/>
                </a:cubicBezTo>
                <a:cubicBezTo>
                  <a:pt x="443230" y="1082040"/>
                  <a:pt x="458470" y="525780"/>
                  <a:pt x="469900" y="433070"/>
                </a:cubicBezTo>
                <a:cubicBezTo>
                  <a:pt x="473710" y="412750"/>
                  <a:pt x="473710" y="407670"/>
                  <a:pt x="480060" y="396240"/>
                </a:cubicBezTo>
                <a:cubicBezTo>
                  <a:pt x="488950" y="382270"/>
                  <a:pt x="508000" y="364490"/>
                  <a:pt x="524510" y="358140"/>
                </a:cubicBezTo>
                <a:cubicBezTo>
                  <a:pt x="542290" y="351790"/>
                  <a:pt x="566420" y="353060"/>
                  <a:pt x="582930" y="359410"/>
                </a:cubicBezTo>
                <a:cubicBezTo>
                  <a:pt x="599440" y="365760"/>
                  <a:pt x="615950" y="377190"/>
                  <a:pt x="624840" y="398780"/>
                </a:cubicBezTo>
                <a:cubicBezTo>
                  <a:pt x="642620" y="439420"/>
                  <a:pt x="636270" y="541020"/>
                  <a:pt x="623570" y="609600"/>
                </a:cubicBezTo>
                <a:cubicBezTo>
                  <a:pt x="610870" y="681990"/>
                  <a:pt x="560070" y="762000"/>
                  <a:pt x="543560" y="824230"/>
                </a:cubicBezTo>
                <a:cubicBezTo>
                  <a:pt x="533400" y="868680"/>
                  <a:pt x="538480" y="902970"/>
                  <a:pt x="528320" y="942340"/>
                </a:cubicBezTo>
                <a:cubicBezTo>
                  <a:pt x="518160" y="982980"/>
                  <a:pt x="501650" y="1036320"/>
                  <a:pt x="478790" y="1064260"/>
                </a:cubicBezTo>
                <a:cubicBezTo>
                  <a:pt x="461010" y="1085850"/>
                  <a:pt x="434340" y="1102360"/>
                  <a:pt x="415290" y="1107440"/>
                </a:cubicBezTo>
                <a:cubicBezTo>
                  <a:pt x="401320" y="1109980"/>
                  <a:pt x="388620" y="1107440"/>
                  <a:pt x="375920" y="1102360"/>
                </a:cubicBezTo>
                <a:cubicBezTo>
                  <a:pt x="360680" y="1094740"/>
                  <a:pt x="342900" y="1082040"/>
                  <a:pt x="332740" y="1062990"/>
                </a:cubicBezTo>
                <a:cubicBezTo>
                  <a:pt x="318770" y="1031240"/>
                  <a:pt x="325120" y="963930"/>
                  <a:pt x="327660" y="920750"/>
                </a:cubicBezTo>
                <a:cubicBezTo>
                  <a:pt x="328930" y="883920"/>
                  <a:pt x="330200" y="852170"/>
                  <a:pt x="339090" y="817880"/>
                </a:cubicBezTo>
                <a:cubicBezTo>
                  <a:pt x="350520" y="778510"/>
                  <a:pt x="375920" y="746760"/>
                  <a:pt x="393700" y="701040"/>
                </a:cubicBezTo>
                <a:cubicBezTo>
                  <a:pt x="420370" y="633730"/>
                  <a:pt x="449580" y="515620"/>
                  <a:pt x="476250" y="453390"/>
                </a:cubicBezTo>
                <a:cubicBezTo>
                  <a:pt x="492760" y="414020"/>
                  <a:pt x="502920" y="377190"/>
                  <a:pt x="524510" y="359410"/>
                </a:cubicBezTo>
                <a:cubicBezTo>
                  <a:pt x="539750" y="345440"/>
                  <a:pt x="561340" y="340360"/>
                  <a:pt x="579120" y="341630"/>
                </a:cubicBezTo>
                <a:cubicBezTo>
                  <a:pt x="596900" y="342900"/>
                  <a:pt x="619760" y="350520"/>
                  <a:pt x="632460" y="364490"/>
                </a:cubicBezTo>
                <a:cubicBezTo>
                  <a:pt x="646430" y="381000"/>
                  <a:pt x="659130" y="415290"/>
                  <a:pt x="655320" y="436880"/>
                </a:cubicBezTo>
                <a:cubicBezTo>
                  <a:pt x="652780" y="457200"/>
                  <a:pt x="631190" y="466090"/>
                  <a:pt x="618490" y="491490"/>
                </a:cubicBezTo>
                <a:cubicBezTo>
                  <a:pt x="594360" y="537210"/>
                  <a:pt x="577850" y="623570"/>
                  <a:pt x="543560" y="694690"/>
                </a:cubicBezTo>
                <a:cubicBezTo>
                  <a:pt x="499110" y="783590"/>
                  <a:pt x="408940" y="920750"/>
                  <a:pt x="364490" y="979170"/>
                </a:cubicBezTo>
                <a:cubicBezTo>
                  <a:pt x="341630" y="1008380"/>
                  <a:pt x="331470" y="1027430"/>
                  <a:pt x="308610" y="1041400"/>
                </a:cubicBezTo>
                <a:cubicBezTo>
                  <a:pt x="288290" y="1055370"/>
                  <a:pt x="261620" y="1065530"/>
                  <a:pt x="234950" y="1062990"/>
                </a:cubicBezTo>
                <a:cubicBezTo>
                  <a:pt x="200660" y="1060450"/>
                  <a:pt x="146050" y="1036320"/>
                  <a:pt x="121920" y="1007110"/>
                </a:cubicBezTo>
                <a:cubicBezTo>
                  <a:pt x="99060" y="979170"/>
                  <a:pt x="95250" y="937260"/>
                  <a:pt x="92710" y="892810"/>
                </a:cubicBezTo>
                <a:cubicBezTo>
                  <a:pt x="88900" y="833120"/>
                  <a:pt x="101600" y="751840"/>
                  <a:pt x="119380" y="680720"/>
                </a:cubicBezTo>
                <a:cubicBezTo>
                  <a:pt x="138430" y="601980"/>
                  <a:pt x="175260" y="515620"/>
                  <a:pt x="208280" y="443230"/>
                </a:cubicBezTo>
                <a:cubicBezTo>
                  <a:pt x="236220" y="378460"/>
                  <a:pt x="257810" y="302260"/>
                  <a:pt x="302260" y="264160"/>
                </a:cubicBezTo>
                <a:cubicBezTo>
                  <a:pt x="340360" y="232410"/>
                  <a:pt x="405130" y="210820"/>
                  <a:pt x="445770" y="219710"/>
                </a:cubicBezTo>
                <a:cubicBezTo>
                  <a:pt x="481330" y="227330"/>
                  <a:pt x="519430" y="267970"/>
                  <a:pt x="534670" y="300990"/>
                </a:cubicBezTo>
                <a:cubicBezTo>
                  <a:pt x="548640" y="332740"/>
                  <a:pt x="541020" y="361950"/>
                  <a:pt x="538480" y="410210"/>
                </a:cubicBezTo>
                <a:cubicBezTo>
                  <a:pt x="534670" y="509270"/>
                  <a:pt x="500380" y="765810"/>
                  <a:pt x="480060" y="857250"/>
                </a:cubicBezTo>
                <a:cubicBezTo>
                  <a:pt x="469900" y="899160"/>
                  <a:pt x="457200" y="905510"/>
                  <a:pt x="450850" y="947420"/>
                </a:cubicBezTo>
                <a:cubicBezTo>
                  <a:pt x="438150" y="1029970"/>
                  <a:pt x="476250" y="1263650"/>
                  <a:pt x="450850" y="1330960"/>
                </a:cubicBezTo>
                <a:cubicBezTo>
                  <a:pt x="439420" y="1360170"/>
                  <a:pt x="421640" y="1375410"/>
                  <a:pt x="403860" y="1384300"/>
                </a:cubicBezTo>
                <a:cubicBezTo>
                  <a:pt x="388620" y="1390650"/>
                  <a:pt x="364490" y="1388110"/>
                  <a:pt x="350520" y="1384300"/>
                </a:cubicBezTo>
                <a:cubicBezTo>
                  <a:pt x="337820" y="1380490"/>
                  <a:pt x="328930" y="1372870"/>
                  <a:pt x="321310" y="1362710"/>
                </a:cubicBezTo>
                <a:cubicBezTo>
                  <a:pt x="311150" y="1351280"/>
                  <a:pt x="306070" y="1339850"/>
                  <a:pt x="302260" y="1313180"/>
                </a:cubicBezTo>
                <a:cubicBezTo>
                  <a:pt x="287020" y="1229360"/>
                  <a:pt x="298450" y="918210"/>
                  <a:pt x="314960" y="764540"/>
                </a:cubicBezTo>
                <a:cubicBezTo>
                  <a:pt x="326390" y="652780"/>
                  <a:pt x="356870" y="581660"/>
                  <a:pt x="369570" y="473710"/>
                </a:cubicBezTo>
                <a:cubicBezTo>
                  <a:pt x="384810" y="342900"/>
                  <a:pt x="358140" y="93980"/>
                  <a:pt x="392430" y="34290"/>
                </a:cubicBezTo>
                <a:cubicBezTo>
                  <a:pt x="403860" y="13970"/>
                  <a:pt x="420370" y="7620"/>
                  <a:pt x="438150" y="5080"/>
                </a:cubicBezTo>
                <a:cubicBezTo>
                  <a:pt x="458470" y="1270"/>
                  <a:pt x="492760" y="11430"/>
                  <a:pt x="508000" y="24130"/>
                </a:cubicBezTo>
                <a:cubicBezTo>
                  <a:pt x="521970" y="35560"/>
                  <a:pt x="529590" y="58420"/>
                  <a:pt x="532130" y="73660"/>
                </a:cubicBezTo>
                <a:cubicBezTo>
                  <a:pt x="534670" y="86360"/>
                  <a:pt x="532130" y="93980"/>
                  <a:pt x="527050" y="110490"/>
                </a:cubicBezTo>
                <a:cubicBezTo>
                  <a:pt x="510540" y="152400"/>
                  <a:pt x="439420" y="233680"/>
                  <a:pt x="398780" y="317500"/>
                </a:cubicBezTo>
                <a:cubicBezTo>
                  <a:pt x="341630" y="431800"/>
                  <a:pt x="283210" y="643890"/>
                  <a:pt x="237490" y="744220"/>
                </a:cubicBezTo>
                <a:cubicBezTo>
                  <a:pt x="210820" y="801370"/>
                  <a:pt x="175260" y="828040"/>
                  <a:pt x="166370" y="873760"/>
                </a:cubicBezTo>
                <a:cubicBezTo>
                  <a:pt x="158750" y="915670"/>
                  <a:pt x="198120" y="991870"/>
                  <a:pt x="180340" y="1005840"/>
                </a:cubicBezTo>
                <a:cubicBezTo>
                  <a:pt x="165100" y="1017270"/>
                  <a:pt x="86360" y="991870"/>
                  <a:pt x="80010" y="967740"/>
                </a:cubicBezTo>
                <a:cubicBezTo>
                  <a:pt x="69850" y="928370"/>
                  <a:pt x="195580" y="802640"/>
                  <a:pt x="259080" y="763270"/>
                </a:cubicBezTo>
                <a:cubicBezTo>
                  <a:pt x="307340" y="732790"/>
                  <a:pt x="368300" y="718820"/>
                  <a:pt x="410210" y="722630"/>
                </a:cubicBezTo>
                <a:cubicBezTo>
                  <a:pt x="441960" y="725170"/>
                  <a:pt x="474980" y="741680"/>
                  <a:pt x="492760" y="759460"/>
                </a:cubicBezTo>
                <a:cubicBezTo>
                  <a:pt x="505460" y="773430"/>
                  <a:pt x="514350" y="792480"/>
                  <a:pt x="514350" y="811530"/>
                </a:cubicBezTo>
                <a:cubicBezTo>
                  <a:pt x="514350" y="831850"/>
                  <a:pt x="500380" y="863600"/>
                  <a:pt x="482600" y="877570"/>
                </a:cubicBezTo>
                <a:cubicBezTo>
                  <a:pt x="466090" y="890270"/>
                  <a:pt x="410210" y="889000"/>
                  <a:pt x="410210" y="889000"/>
                </a:cubicBezTo>
              </a:path>
            </a:pathLst>
          </a:custGeom>
          <a:solidFill>
            <a:srgbClr val="042b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" name="Google Shape;119;p2"/>
          <p:cNvSpPr/>
          <p:nvPr/>
        </p:nvSpPr>
        <p:spPr>
          <a:xfrm>
            <a:off x="15715440" y="4141440"/>
            <a:ext cx="1458000" cy="1068480"/>
          </a:xfrm>
          <a:custGeom>
            <a:avLst/>
            <a:gdLst>
              <a:gd name="textAreaLeft" fmla="*/ 0 w 1458000"/>
              <a:gd name="textAreaRight" fmla="*/ 1458360 w 1458000"/>
              <a:gd name="textAreaTop" fmla="*/ 0 h 1068480"/>
              <a:gd name="textAreaBottom" fmla="*/ 1068840 h 1068480"/>
            </a:gdLst>
            <a:ahLst/>
            <a:rect l="textAreaLeft" t="textAreaTop" r="textAreaRight" b="textAreaBottom"/>
            <a:pathLst>
              <a:path w="1944370" h="1424940">
                <a:moveTo>
                  <a:pt x="0" y="673100"/>
                </a:moveTo>
                <a:cubicBezTo>
                  <a:pt x="0" y="661670"/>
                  <a:pt x="0" y="656590"/>
                  <a:pt x="0" y="656590"/>
                </a:cubicBezTo>
                <a:cubicBezTo>
                  <a:pt x="0" y="656590"/>
                  <a:pt x="1270" y="651510"/>
                  <a:pt x="2540" y="648970"/>
                </a:cubicBezTo>
                <a:cubicBezTo>
                  <a:pt x="2540" y="646430"/>
                  <a:pt x="3810" y="641350"/>
                  <a:pt x="5080" y="641350"/>
                </a:cubicBezTo>
                <a:cubicBezTo>
                  <a:pt x="5080" y="641350"/>
                  <a:pt x="7620" y="636270"/>
                  <a:pt x="8890" y="635000"/>
                </a:cubicBezTo>
                <a:cubicBezTo>
                  <a:pt x="10160" y="632460"/>
                  <a:pt x="12700" y="627380"/>
                  <a:pt x="12700" y="627380"/>
                </a:cubicBezTo>
                <a:cubicBezTo>
                  <a:pt x="12700" y="627380"/>
                  <a:pt x="16510" y="623570"/>
                  <a:pt x="17780" y="622300"/>
                </a:cubicBezTo>
                <a:cubicBezTo>
                  <a:pt x="20320" y="619760"/>
                  <a:pt x="22860" y="615950"/>
                  <a:pt x="24130" y="615950"/>
                </a:cubicBezTo>
                <a:cubicBezTo>
                  <a:pt x="24130" y="615950"/>
                  <a:pt x="27940" y="613410"/>
                  <a:pt x="30480" y="612140"/>
                </a:cubicBezTo>
                <a:cubicBezTo>
                  <a:pt x="33020" y="610870"/>
                  <a:pt x="36830" y="607060"/>
                  <a:pt x="36830" y="607060"/>
                </a:cubicBezTo>
                <a:cubicBezTo>
                  <a:pt x="36830" y="607060"/>
                  <a:pt x="41910" y="605790"/>
                  <a:pt x="44450" y="604520"/>
                </a:cubicBezTo>
                <a:cubicBezTo>
                  <a:pt x="46990" y="604520"/>
                  <a:pt x="52070" y="601980"/>
                  <a:pt x="52070" y="601980"/>
                </a:cubicBezTo>
                <a:cubicBezTo>
                  <a:pt x="52070" y="601980"/>
                  <a:pt x="57150" y="601980"/>
                  <a:pt x="59690" y="601980"/>
                </a:cubicBezTo>
                <a:cubicBezTo>
                  <a:pt x="62230" y="601980"/>
                  <a:pt x="68580" y="600710"/>
                  <a:pt x="68580" y="600710"/>
                </a:cubicBezTo>
                <a:cubicBezTo>
                  <a:pt x="68580" y="600710"/>
                  <a:pt x="86360" y="603250"/>
                  <a:pt x="100330" y="604520"/>
                </a:cubicBezTo>
                <a:cubicBezTo>
                  <a:pt x="125730" y="607060"/>
                  <a:pt x="173990" y="612140"/>
                  <a:pt x="213360" y="617220"/>
                </a:cubicBezTo>
                <a:cubicBezTo>
                  <a:pt x="257810" y="622300"/>
                  <a:pt x="302260" y="624840"/>
                  <a:pt x="353060" y="632460"/>
                </a:cubicBezTo>
                <a:cubicBezTo>
                  <a:pt x="410210" y="640080"/>
                  <a:pt x="533400" y="675640"/>
                  <a:pt x="539750" y="662940"/>
                </a:cubicBezTo>
                <a:cubicBezTo>
                  <a:pt x="543560" y="656590"/>
                  <a:pt x="519430" y="641350"/>
                  <a:pt x="509270" y="627380"/>
                </a:cubicBezTo>
                <a:cubicBezTo>
                  <a:pt x="494030" y="607060"/>
                  <a:pt x="471170" y="579120"/>
                  <a:pt x="459740" y="552450"/>
                </a:cubicBezTo>
                <a:cubicBezTo>
                  <a:pt x="448310" y="528320"/>
                  <a:pt x="439420" y="501650"/>
                  <a:pt x="439420" y="473710"/>
                </a:cubicBezTo>
                <a:cubicBezTo>
                  <a:pt x="438150" y="443230"/>
                  <a:pt x="440690" y="397510"/>
                  <a:pt x="462280" y="374650"/>
                </a:cubicBezTo>
                <a:cubicBezTo>
                  <a:pt x="488950" y="347980"/>
                  <a:pt x="565150" y="337820"/>
                  <a:pt x="605790" y="341630"/>
                </a:cubicBezTo>
                <a:cubicBezTo>
                  <a:pt x="638810" y="345440"/>
                  <a:pt x="661670" y="367030"/>
                  <a:pt x="688340" y="378460"/>
                </a:cubicBezTo>
                <a:cubicBezTo>
                  <a:pt x="716280" y="388620"/>
                  <a:pt x="741680" y="397510"/>
                  <a:pt x="770890" y="407670"/>
                </a:cubicBezTo>
                <a:cubicBezTo>
                  <a:pt x="802640" y="417830"/>
                  <a:pt x="838200" y="425450"/>
                  <a:pt x="872490" y="438150"/>
                </a:cubicBezTo>
                <a:cubicBezTo>
                  <a:pt x="908050" y="450850"/>
                  <a:pt x="971550" y="486410"/>
                  <a:pt x="981710" y="482600"/>
                </a:cubicBezTo>
                <a:cubicBezTo>
                  <a:pt x="982980" y="482600"/>
                  <a:pt x="982980" y="480060"/>
                  <a:pt x="984250" y="478790"/>
                </a:cubicBezTo>
                <a:cubicBezTo>
                  <a:pt x="985520" y="476250"/>
                  <a:pt x="989330" y="469900"/>
                  <a:pt x="989330" y="469900"/>
                </a:cubicBezTo>
                <a:cubicBezTo>
                  <a:pt x="990600" y="469900"/>
                  <a:pt x="994410" y="466090"/>
                  <a:pt x="996950" y="463550"/>
                </a:cubicBezTo>
                <a:cubicBezTo>
                  <a:pt x="999490" y="461010"/>
                  <a:pt x="1004570" y="457200"/>
                  <a:pt x="1004570" y="457200"/>
                </a:cubicBezTo>
                <a:cubicBezTo>
                  <a:pt x="1005840" y="457200"/>
                  <a:pt x="1010920" y="453390"/>
                  <a:pt x="1014730" y="452120"/>
                </a:cubicBezTo>
                <a:cubicBezTo>
                  <a:pt x="1017270" y="450850"/>
                  <a:pt x="1022350" y="447040"/>
                  <a:pt x="1023620" y="447040"/>
                </a:cubicBezTo>
                <a:cubicBezTo>
                  <a:pt x="1023620" y="447040"/>
                  <a:pt x="1029970" y="445770"/>
                  <a:pt x="1032510" y="444500"/>
                </a:cubicBezTo>
                <a:cubicBezTo>
                  <a:pt x="1036320" y="444500"/>
                  <a:pt x="1042670" y="443230"/>
                  <a:pt x="1042670" y="443230"/>
                </a:cubicBezTo>
                <a:cubicBezTo>
                  <a:pt x="1042670" y="443230"/>
                  <a:pt x="1042670" y="443230"/>
                  <a:pt x="1042670" y="441960"/>
                </a:cubicBezTo>
                <a:cubicBezTo>
                  <a:pt x="1042670" y="441960"/>
                  <a:pt x="1049020" y="441960"/>
                  <a:pt x="1052830" y="441960"/>
                </a:cubicBezTo>
                <a:cubicBezTo>
                  <a:pt x="1056640" y="441960"/>
                  <a:pt x="1062990" y="441960"/>
                  <a:pt x="1062990" y="441960"/>
                </a:cubicBezTo>
                <a:cubicBezTo>
                  <a:pt x="1062990" y="443230"/>
                  <a:pt x="1069340" y="444500"/>
                  <a:pt x="1073150" y="444500"/>
                </a:cubicBezTo>
                <a:cubicBezTo>
                  <a:pt x="1075690" y="445770"/>
                  <a:pt x="1083310" y="447040"/>
                  <a:pt x="1083310" y="447040"/>
                </a:cubicBezTo>
                <a:cubicBezTo>
                  <a:pt x="1083310" y="447040"/>
                  <a:pt x="1088390" y="450850"/>
                  <a:pt x="1092200" y="452120"/>
                </a:cubicBezTo>
                <a:cubicBezTo>
                  <a:pt x="1094740" y="453390"/>
                  <a:pt x="1101090" y="457200"/>
                  <a:pt x="1101090" y="457200"/>
                </a:cubicBezTo>
                <a:cubicBezTo>
                  <a:pt x="1101090" y="457200"/>
                  <a:pt x="1106170" y="461010"/>
                  <a:pt x="1108710" y="463550"/>
                </a:cubicBezTo>
                <a:cubicBezTo>
                  <a:pt x="1111250" y="466090"/>
                  <a:pt x="1116330" y="469900"/>
                  <a:pt x="1116330" y="469900"/>
                </a:cubicBezTo>
                <a:cubicBezTo>
                  <a:pt x="1116330" y="469900"/>
                  <a:pt x="1120140" y="476250"/>
                  <a:pt x="1121410" y="478790"/>
                </a:cubicBezTo>
                <a:cubicBezTo>
                  <a:pt x="1123950" y="481330"/>
                  <a:pt x="1127760" y="486410"/>
                  <a:pt x="1127760" y="486410"/>
                </a:cubicBezTo>
                <a:cubicBezTo>
                  <a:pt x="1127760" y="487680"/>
                  <a:pt x="1130300" y="492760"/>
                  <a:pt x="1131570" y="496570"/>
                </a:cubicBezTo>
                <a:cubicBezTo>
                  <a:pt x="1132840" y="499110"/>
                  <a:pt x="1134110" y="505460"/>
                  <a:pt x="1135380" y="505460"/>
                </a:cubicBezTo>
                <a:cubicBezTo>
                  <a:pt x="1135380" y="506730"/>
                  <a:pt x="1134110" y="514350"/>
                  <a:pt x="1135380" y="515620"/>
                </a:cubicBezTo>
                <a:cubicBezTo>
                  <a:pt x="1137920" y="515620"/>
                  <a:pt x="1145540" y="502920"/>
                  <a:pt x="1148080" y="497840"/>
                </a:cubicBezTo>
                <a:cubicBezTo>
                  <a:pt x="1149350" y="492760"/>
                  <a:pt x="1148080" y="488950"/>
                  <a:pt x="1148080" y="481330"/>
                </a:cubicBezTo>
                <a:cubicBezTo>
                  <a:pt x="1150620" y="461010"/>
                  <a:pt x="1155700" y="396240"/>
                  <a:pt x="1162050" y="360680"/>
                </a:cubicBezTo>
                <a:cubicBezTo>
                  <a:pt x="1168400" y="332740"/>
                  <a:pt x="1174750" y="309880"/>
                  <a:pt x="1182370" y="284480"/>
                </a:cubicBezTo>
                <a:cubicBezTo>
                  <a:pt x="1189990" y="260350"/>
                  <a:pt x="1196340" y="240030"/>
                  <a:pt x="1206500" y="212090"/>
                </a:cubicBezTo>
                <a:cubicBezTo>
                  <a:pt x="1221740" y="172720"/>
                  <a:pt x="1243330" y="105410"/>
                  <a:pt x="1266190" y="69850"/>
                </a:cubicBezTo>
                <a:cubicBezTo>
                  <a:pt x="1282700" y="44450"/>
                  <a:pt x="1296670" y="19050"/>
                  <a:pt x="1320800" y="10160"/>
                </a:cubicBezTo>
                <a:cubicBezTo>
                  <a:pt x="1351280" y="0"/>
                  <a:pt x="1417320" y="5080"/>
                  <a:pt x="1442720" y="27940"/>
                </a:cubicBezTo>
                <a:cubicBezTo>
                  <a:pt x="1468120" y="52070"/>
                  <a:pt x="1460500" y="146050"/>
                  <a:pt x="1469390" y="154940"/>
                </a:cubicBezTo>
                <a:cubicBezTo>
                  <a:pt x="1470660" y="157480"/>
                  <a:pt x="1471930" y="157480"/>
                  <a:pt x="1474470" y="157480"/>
                </a:cubicBezTo>
                <a:cubicBezTo>
                  <a:pt x="1480820" y="154940"/>
                  <a:pt x="1487170" y="130810"/>
                  <a:pt x="1499870" y="123190"/>
                </a:cubicBezTo>
                <a:cubicBezTo>
                  <a:pt x="1518920" y="113030"/>
                  <a:pt x="1558290" y="105410"/>
                  <a:pt x="1582420" y="114300"/>
                </a:cubicBezTo>
                <a:cubicBezTo>
                  <a:pt x="1610360" y="124460"/>
                  <a:pt x="1635760" y="160020"/>
                  <a:pt x="1652270" y="190500"/>
                </a:cubicBezTo>
                <a:cubicBezTo>
                  <a:pt x="1668780" y="222250"/>
                  <a:pt x="1672590" y="266700"/>
                  <a:pt x="1677670" y="302260"/>
                </a:cubicBezTo>
                <a:cubicBezTo>
                  <a:pt x="1682750" y="335280"/>
                  <a:pt x="1684020" y="373380"/>
                  <a:pt x="1685290" y="400050"/>
                </a:cubicBezTo>
                <a:cubicBezTo>
                  <a:pt x="1685290" y="416560"/>
                  <a:pt x="1680210" y="439420"/>
                  <a:pt x="1685290" y="443230"/>
                </a:cubicBezTo>
                <a:cubicBezTo>
                  <a:pt x="1687830" y="444500"/>
                  <a:pt x="1690370" y="439420"/>
                  <a:pt x="1695450" y="439420"/>
                </a:cubicBezTo>
                <a:cubicBezTo>
                  <a:pt x="1710690" y="440690"/>
                  <a:pt x="1774190" y="457200"/>
                  <a:pt x="1797050" y="482600"/>
                </a:cubicBezTo>
                <a:cubicBezTo>
                  <a:pt x="1819910" y="510540"/>
                  <a:pt x="1830070" y="562610"/>
                  <a:pt x="1830070" y="601980"/>
                </a:cubicBezTo>
                <a:cubicBezTo>
                  <a:pt x="1830070" y="640080"/>
                  <a:pt x="1812290" y="679450"/>
                  <a:pt x="1795780" y="713740"/>
                </a:cubicBezTo>
                <a:cubicBezTo>
                  <a:pt x="1778000" y="748030"/>
                  <a:pt x="1746250" y="784860"/>
                  <a:pt x="1727200" y="805180"/>
                </a:cubicBezTo>
                <a:cubicBezTo>
                  <a:pt x="1715770" y="816610"/>
                  <a:pt x="1694180" y="820420"/>
                  <a:pt x="1695450" y="828040"/>
                </a:cubicBezTo>
                <a:cubicBezTo>
                  <a:pt x="1695450" y="838200"/>
                  <a:pt x="1727200" y="844550"/>
                  <a:pt x="1747520" y="855980"/>
                </a:cubicBezTo>
                <a:cubicBezTo>
                  <a:pt x="1772920" y="871220"/>
                  <a:pt x="1808480" y="890270"/>
                  <a:pt x="1838960" y="910590"/>
                </a:cubicBezTo>
                <a:cubicBezTo>
                  <a:pt x="1870710" y="932180"/>
                  <a:pt x="1920240" y="951230"/>
                  <a:pt x="1932940" y="980440"/>
                </a:cubicBezTo>
                <a:cubicBezTo>
                  <a:pt x="1944370" y="1007110"/>
                  <a:pt x="1940560" y="1051560"/>
                  <a:pt x="1925320" y="1074420"/>
                </a:cubicBezTo>
                <a:cubicBezTo>
                  <a:pt x="1907540" y="1097280"/>
                  <a:pt x="1863090" y="1109980"/>
                  <a:pt x="1831340" y="1116330"/>
                </a:cubicBezTo>
                <a:cubicBezTo>
                  <a:pt x="1802130" y="1121410"/>
                  <a:pt x="1770380" y="1115060"/>
                  <a:pt x="1742440" y="1109980"/>
                </a:cubicBezTo>
                <a:cubicBezTo>
                  <a:pt x="1715770" y="1104900"/>
                  <a:pt x="1686560" y="1094740"/>
                  <a:pt x="1667510" y="1087120"/>
                </a:cubicBezTo>
                <a:cubicBezTo>
                  <a:pt x="1657350" y="1083310"/>
                  <a:pt x="1645920" y="1073150"/>
                  <a:pt x="1642110" y="1075690"/>
                </a:cubicBezTo>
                <a:cubicBezTo>
                  <a:pt x="1639570" y="1076960"/>
                  <a:pt x="1640840" y="1082040"/>
                  <a:pt x="1639570" y="1087120"/>
                </a:cubicBezTo>
                <a:cubicBezTo>
                  <a:pt x="1638300" y="1102360"/>
                  <a:pt x="1634490" y="1137920"/>
                  <a:pt x="1629410" y="1164590"/>
                </a:cubicBezTo>
                <a:cubicBezTo>
                  <a:pt x="1623060" y="1196340"/>
                  <a:pt x="1614170" y="1233170"/>
                  <a:pt x="1606550" y="1266190"/>
                </a:cubicBezTo>
                <a:cubicBezTo>
                  <a:pt x="1598930" y="1296670"/>
                  <a:pt x="1584960" y="1356360"/>
                  <a:pt x="1584960" y="1356360"/>
                </a:cubicBezTo>
                <a:cubicBezTo>
                  <a:pt x="1584960" y="1356360"/>
                  <a:pt x="1583690" y="1362710"/>
                  <a:pt x="1583690" y="1365250"/>
                </a:cubicBezTo>
                <a:cubicBezTo>
                  <a:pt x="1583690" y="1367790"/>
                  <a:pt x="1582420" y="1372870"/>
                  <a:pt x="1582420" y="1372870"/>
                </a:cubicBezTo>
                <a:cubicBezTo>
                  <a:pt x="1582420" y="1372870"/>
                  <a:pt x="1581150" y="1377950"/>
                  <a:pt x="1579880" y="1380490"/>
                </a:cubicBezTo>
                <a:cubicBezTo>
                  <a:pt x="1578610" y="1383030"/>
                  <a:pt x="1577340" y="1388110"/>
                  <a:pt x="1577340" y="1388110"/>
                </a:cubicBezTo>
                <a:cubicBezTo>
                  <a:pt x="1577340" y="1388110"/>
                  <a:pt x="1573530" y="1393190"/>
                  <a:pt x="1572260" y="1394460"/>
                </a:cubicBezTo>
                <a:cubicBezTo>
                  <a:pt x="1570990" y="1397000"/>
                  <a:pt x="1567180" y="1402080"/>
                  <a:pt x="1567180" y="1402080"/>
                </a:cubicBezTo>
                <a:cubicBezTo>
                  <a:pt x="1567180" y="1402080"/>
                  <a:pt x="1563370" y="1405890"/>
                  <a:pt x="1562100" y="1407160"/>
                </a:cubicBezTo>
                <a:cubicBezTo>
                  <a:pt x="1559560" y="1409700"/>
                  <a:pt x="1555750" y="1412240"/>
                  <a:pt x="1555750" y="1412240"/>
                </a:cubicBezTo>
                <a:cubicBezTo>
                  <a:pt x="1555750" y="1412240"/>
                  <a:pt x="1550670" y="1414780"/>
                  <a:pt x="1548130" y="1416050"/>
                </a:cubicBezTo>
                <a:cubicBezTo>
                  <a:pt x="1545590" y="1417320"/>
                  <a:pt x="1540510" y="1419860"/>
                  <a:pt x="1540510" y="1419860"/>
                </a:cubicBezTo>
                <a:cubicBezTo>
                  <a:pt x="1540510" y="1419860"/>
                  <a:pt x="1535430" y="1421130"/>
                  <a:pt x="1532890" y="1422400"/>
                </a:cubicBezTo>
                <a:cubicBezTo>
                  <a:pt x="1530350" y="1423670"/>
                  <a:pt x="1525270" y="1424940"/>
                  <a:pt x="1525270" y="1424940"/>
                </a:cubicBezTo>
                <a:cubicBezTo>
                  <a:pt x="1525270" y="1424940"/>
                  <a:pt x="1520190" y="1424940"/>
                  <a:pt x="1516380" y="1424940"/>
                </a:cubicBezTo>
                <a:cubicBezTo>
                  <a:pt x="1513840" y="1424940"/>
                  <a:pt x="1508760" y="1424940"/>
                  <a:pt x="1508760" y="1424940"/>
                </a:cubicBezTo>
                <a:cubicBezTo>
                  <a:pt x="1508760" y="1424940"/>
                  <a:pt x="1503680" y="1423670"/>
                  <a:pt x="1501140" y="1422400"/>
                </a:cubicBezTo>
                <a:cubicBezTo>
                  <a:pt x="1498600" y="1422400"/>
                  <a:pt x="1493520" y="1421130"/>
                  <a:pt x="1492250" y="1421130"/>
                </a:cubicBezTo>
                <a:cubicBezTo>
                  <a:pt x="1492250" y="1421130"/>
                  <a:pt x="1488440" y="1418590"/>
                  <a:pt x="1485900" y="1417320"/>
                </a:cubicBezTo>
                <a:cubicBezTo>
                  <a:pt x="1483360" y="1416050"/>
                  <a:pt x="1478280" y="1413510"/>
                  <a:pt x="1478280" y="1413510"/>
                </a:cubicBezTo>
                <a:cubicBezTo>
                  <a:pt x="1478280" y="1413510"/>
                  <a:pt x="1474470" y="1409700"/>
                  <a:pt x="1471930" y="1407160"/>
                </a:cubicBezTo>
                <a:cubicBezTo>
                  <a:pt x="1470660" y="1405890"/>
                  <a:pt x="1465580" y="1402080"/>
                  <a:pt x="1465580" y="1402080"/>
                </a:cubicBezTo>
                <a:cubicBezTo>
                  <a:pt x="1465580" y="1402080"/>
                  <a:pt x="1463040" y="1398270"/>
                  <a:pt x="1461770" y="1395730"/>
                </a:cubicBezTo>
                <a:cubicBezTo>
                  <a:pt x="1459230" y="1393190"/>
                  <a:pt x="1456690" y="1389380"/>
                  <a:pt x="1456690" y="1389380"/>
                </a:cubicBezTo>
                <a:cubicBezTo>
                  <a:pt x="1456690" y="1389380"/>
                  <a:pt x="1454150" y="1384300"/>
                  <a:pt x="1454150" y="1381760"/>
                </a:cubicBezTo>
                <a:cubicBezTo>
                  <a:pt x="1452880" y="1379220"/>
                  <a:pt x="1450340" y="1374140"/>
                  <a:pt x="1450340" y="1374140"/>
                </a:cubicBezTo>
                <a:cubicBezTo>
                  <a:pt x="1450340" y="1372870"/>
                  <a:pt x="1450340" y="1367790"/>
                  <a:pt x="1450340" y="1365250"/>
                </a:cubicBezTo>
                <a:cubicBezTo>
                  <a:pt x="1449070" y="1362710"/>
                  <a:pt x="1449070" y="1357630"/>
                  <a:pt x="1449070" y="1357630"/>
                </a:cubicBezTo>
                <a:cubicBezTo>
                  <a:pt x="1449070" y="1357630"/>
                  <a:pt x="1449070" y="1357630"/>
                  <a:pt x="1449070" y="1356360"/>
                </a:cubicBezTo>
                <a:cubicBezTo>
                  <a:pt x="1449070" y="1351280"/>
                  <a:pt x="1450340" y="1295400"/>
                  <a:pt x="1451610" y="1264920"/>
                </a:cubicBezTo>
                <a:cubicBezTo>
                  <a:pt x="1451610" y="1235710"/>
                  <a:pt x="1451610" y="1210310"/>
                  <a:pt x="1451610" y="1178560"/>
                </a:cubicBezTo>
                <a:cubicBezTo>
                  <a:pt x="1451610" y="1137920"/>
                  <a:pt x="1450340" y="1038860"/>
                  <a:pt x="1447800" y="1038860"/>
                </a:cubicBezTo>
                <a:cubicBezTo>
                  <a:pt x="1445260" y="1038860"/>
                  <a:pt x="1445260" y="1056640"/>
                  <a:pt x="1441450" y="1068070"/>
                </a:cubicBezTo>
                <a:cubicBezTo>
                  <a:pt x="1435100" y="1088390"/>
                  <a:pt x="1427480" y="1125220"/>
                  <a:pt x="1409700" y="1146810"/>
                </a:cubicBezTo>
                <a:cubicBezTo>
                  <a:pt x="1391920" y="1169670"/>
                  <a:pt x="1348740" y="1198880"/>
                  <a:pt x="1332230" y="1202690"/>
                </a:cubicBezTo>
                <a:cubicBezTo>
                  <a:pt x="1325880" y="1203960"/>
                  <a:pt x="1320800" y="1197610"/>
                  <a:pt x="1318260" y="1200150"/>
                </a:cubicBezTo>
                <a:cubicBezTo>
                  <a:pt x="1314450" y="1201420"/>
                  <a:pt x="1315720" y="1206500"/>
                  <a:pt x="1311910" y="1210310"/>
                </a:cubicBezTo>
                <a:cubicBezTo>
                  <a:pt x="1299210" y="1220470"/>
                  <a:pt x="1254760" y="1250950"/>
                  <a:pt x="1224280" y="1247140"/>
                </a:cubicBezTo>
                <a:cubicBezTo>
                  <a:pt x="1186180" y="1243330"/>
                  <a:pt x="1116330" y="1176020"/>
                  <a:pt x="1102360" y="1160780"/>
                </a:cubicBezTo>
                <a:cubicBezTo>
                  <a:pt x="1098550" y="1155700"/>
                  <a:pt x="1099820" y="1153160"/>
                  <a:pt x="1097280" y="1150620"/>
                </a:cubicBezTo>
                <a:cubicBezTo>
                  <a:pt x="1094740" y="1148080"/>
                  <a:pt x="1090930" y="1149350"/>
                  <a:pt x="1088390" y="1145540"/>
                </a:cubicBezTo>
                <a:cubicBezTo>
                  <a:pt x="1075690" y="1135380"/>
                  <a:pt x="1047750" y="1089660"/>
                  <a:pt x="1033780" y="1060450"/>
                </a:cubicBezTo>
                <a:cubicBezTo>
                  <a:pt x="1022350" y="1035050"/>
                  <a:pt x="1010920" y="990600"/>
                  <a:pt x="1009650" y="980440"/>
                </a:cubicBezTo>
                <a:cubicBezTo>
                  <a:pt x="1008380" y="977900"/>
                  <a:pt x="1009650" y="977900"/>
                  <a:pt x="1009650" y="975360"/>
                </a:cubicBezTo>
                <a:cubicBezTo>
                  <a:pt x="1007110" y="969010"/>
                  <a:pt x="998220" y="951230"/>
                  <a:pt x="988060" y="944880"/>
                </a:cubicBezTo>
                <a:cubicBezTo>
                  <a:pt x="976630" y="938530"/>
                  <a:pt x="960120" y="944880"/>
                  <a:pt x="943610" y="938530"/>
                </a:cubicBezTo>
                <a:cubicBezTo>
                  <a:pt x="919480" y="929640"/>
                  <a:pt x="886460" y="904240"/>
                  <a:pt x="858520" y="887730"/>
                </a:cubicBezTo>
                <a:cubicBezTo>
                  <a:pt x="833120" y="872490"/>
                  <a:pt x="806450" y="843280"/>
                  <a:pt x="784860" y="843280"/>
                </a:cubicBezTo>
                <a:cubicBezTo>
                  <a:pt x="768350" y="843280"/>
                  <a:pt x="756920" y="857250"/>
                  <a:pt x="740410" y="867410"/>
                </a:cubicBezTo>
                <a:cubicBezTo>
                  <a:pt x="721360" y="880110"/>
                  <a:pt x="701040" y="897890"/>
                  <a:pt x="679450" y="913130"/>
                </a:cubicBezTo>
                <a:cubicBezTo>
                  <a:pt x="655320" y="929640"/>
                  <a:pt x="629920" y="946150"/>
                  <a:pt x="603250" y="962660"/>
                </a:cubicBezTo>
                <a:cubicBezTo>
                  <a:pt x="576580" y="979170"/>
                  <a:pt x="547370" y="994410"/>
                  <a:pt x="518160" y="1009650"/>
                </a:cubicBezTo>
                <a:cubicBezTo>
                  <a:pt x="487680" y="1026160"/>
                  <a:pt x="459740" y="1047750"/>
                  <a:pt x="426720" y="1055370"/>
                </a:cubicBezTo>
                <a:cubicBezTo>
                  <a:pt x="388620" y="1064260"/>
                  <a:pt x="331470" y="1071880"/>
                  <a:pt x="302260" y="1052830"/>
                </a:cubicBezTo>
                <a:cubicBezTo>
                  <a:pt x="271780" y="1032510"/>
                  <a:pt x="250190" y="970280"/>
                  <a:pt x="247650" y="934720"/>
                </a:cubicBezTo>
                <a:cubicBezTo>
                  <a:pt x="245110" y="906780"/>
                  <a:pt x="257810" y="881380"/>
                  <a:pt x="267970" y="857250"/>
                </a:cubicBezTo>
                <a:cubicBezTo>
                  <a:pt x="276860" y="835660"/>
                  <a:pt x="308610" y="805180"/>
                  <a:pt x="304800" y="797560"/>
                </a:cubicBezTo>
                <a:cubicBezTo>
                  <a:pt x="303530" y="793750"/>
                  <a:pt x="295910" y="796290"/>
                  <a:pt x="288290" y="796290"/>
                </a:cubicBezTo>
                <a:cubicBezTo>
                  <a:pt x="271780" y="795020"/>
                  <a:pt x="237490" y="796290"/>
                  <a:pt x="212090" y="792480"/>
                </a:cubicBezTo>
                <a:cubicBezTo>
                  <a:pt x="184150" y="787400"/>
                  <a:pt x="154940" y="779780"/>
                  <a:pt x="129540" y="769620"/>
                </a:cubicBezTo>
                <a:cubicBezTo>
                  <a:pt x="105410" y="760730"/>
                  <a:pt x="63500" y="734060"/>
                  <a:pt x="62230" y="734060"/>
                </a:cubicBezTo>
                <a:cubicBezTo>
                  <a:pt x="62230" y="734060"/>
                  <a:pt x="57150" y="732790"/>
                  <a:pt x="54610" y="732790"/>
                </a:cubicBezTo>
                <a:cubicBezTo>
                  <a:pt x="52070" y="731520"/>
                  <a:pt x="46990" y="731520"/>
                  <a:pt x="46990" y="731520"/>
                </a:cubicBezTo>
                <a:cubicBezTo>
                  <a:pt x="46990" y="731520"/>
                  <a:pt x="41910" y="728980"/>
                  <a:pt x="39370" y="727710"/>
                </a:cubicBezTo>
                <a:cubicBezTo>
                  <a:pt x="36830" y="726440"/>
                  <a:pt x="31750" y="725170"/>
                  <a:pt x="31750" y="725170"/>
                </a:cubicBezTo>
                <a:cubicBezTo>
                  <a:pt x="31750" y="725170"/>
                  <a:pt x="27940" y="721360"/>
                  <a:pt x="25400" y="720090"/>
                </a:cubicBezTo>
                <a:cubicBezTo>
                  <a:pt x="24130" y="718820"/>
                  <a:pt x="19050" y="715010"/>
                  <a:pt x="19050" y="715010"/>
                </a:cubicBezTo>
                <a:cubicBezTo>
                  <a:pt x="19050" y="715010"/>
                  <a:pt x="16510" y="711200"/>
                  <a:pt x="13970" y="708660"/>
                </a:cubicBezTo>
                <a:cubicBezTo>
                  <a:pt x="12700" y="707390"/>
                  <a:pt x="8890" y="702310"/>
                  <a:pt x="8890" y="702310"/>
                </a:cubicBezTo>
                <a:cubicBezTo>
                  <a:pt x="8890" y="702310"/>
                  <a:pt x="7620" y="698500"/>
                  <a:pt x="6350" y="695960"/>
                </a:cubicBezTo>
                <a:cubicBezTo>
                  <a:pt x="5080" y="693420"/>
                  <a:pt x="2540" y="688340"/>
                  <a:pt x="2540" y="688340"/>
                </a:cubicBezTo>
                <a:cubicBezTo>
                  <a:pt x="2540" y="688340"/>
                  <a:pt x="1270" y="683260"/>
                  <a:pt x="1270" y="680720"/>
                </a:cubicBezTo>
                <a:cubicBezTo>
                  <a:pt x="0" y="678180"/>
                  <a:pt x="0" y="673100"/>
                  <a:pt x="0" y="673100"/>
                </a:cubicBezTo>
                <a:moveTo>
                  <a:pt x="601980" y="472440"/>
                </a:moveTo>
                <a:cubicBezTo>
                  <a:pt x="678180" y="576580"/>
                  <a:pt x="694690" y="598170"/>
                  <a:pt x="713740" y="613410"/>
                </a:cubicBezTo>
                <a:cubicBezTo>
                  <a:pt x="728980" y="626110"/>
                  <a:pt x="758190" y="642620"/>
                  <a:pt x="762000" y="641350"/>
                </a:cubicBezTo>
                <a:cubicBezTo>
                  <a:pt x="762000" y="641350"/>
                  <a:pt x="762000" y="641350"/>
                  <a:pt x="762000" y="640080"/>
                </a:cubicBezTo>
                <a:cubicBezTo>
                  <a:pt x="763270" y="640080"/>
                  <a:pt x="764540" y="638810"/>
                  <a:pt x="765810" y="637540"/>
                </a:cubicBezTo>
                <a:cubicBezTo>
                  <a:pt x="767080" y="636270"/>
                  <a:pt x="767080" y="635000"/>
                  <a:pt x="768350" y="633730"/>
                </a:cubicBezTo>
                <a:cubicBezTo>
                  <a:pt x="770890" y="632460"/>
                  <a:pt x="773430" y="629920"/>
                  <a:pt x="775970" y="628650"/>
                </a:cubicBezTo>
                <a:cubicBezTo>
                  <a:pt x="778510" y="627380"/>
                  <a:pt x="781050" y="623570"/>
                  <a:pt x="783590" y="622300"/>
                </a:cubicBezTo>
                <a:cubicBezTo>
                  <a:pt x="784860" y="622300"/>
                  <a:pt x="786130" y="622300"/>
                  <a:pt x="787400" y="621030"/>
                </a:cubicBezTo>
                <a:cubicBezTo>
                  <a:pt x="789940" y="621030"/>
                  <a:pt x="789940" y="619760"/>
                  <a:pt x="791210" y="618490"/>
                </a:cubicBezTo>
                <a:cubicBezTo>
                  <a:pt x="793750" y="618490"/>
                  <a:pt x="796290" y="617220"/>
                  <a:pt x="796290" y="617220"/>
                </a:cubicBezTo>
                <a:cubicBezTo>
                  <a:pt x="797560" y="617220"/>
                  <a:pt x="797560" y="615950"/>
                  <a:pt x="797560" y="615950"/>
                </a:cubicBezTo>
                <a:cubicBezTo>
                  <a:pt x="797560" y="615950"/>
                  <a:pt x="803910" y="614680"/>
                  <a:pt x="805180" y="614680"/>
                </a:cubicBezTo>
                <a:cubicBezTo>
                  <a:pt x="806450" y="613410"/>
                  <a:pt x="807720" y="613410"/>
                  <a:pt x="808990" y="613410"/>
                </a:cubicBezTo>
                <a:cubicBezTo>
                  <a:pt x="810260" y="612140"/>
                  <a:pt x="811530" y="613410"/>
                  <a:pt x="812800" y="613410"/>
                </a:cubicBezTo>
                <a:cubicBezTo>
                  <a:pt x="814070" y="612140"/>
                  <a:pt x="817880" y="612140"/>
                  <a:pt x="817880" y="612140"/>
                </a:cubicBezTo>
                <a:cubicBezTo>
                  <a:pt x="819150" y="612140"/>
                  <a:pt x="819150" y="612140"/>
                  <a:pt x="819150" y="612140"/>
                </a:cubicBezTo>
                <a:cubicBezTo>
                  <a:pt x="821690" y="612140"/>
                  <a:pt x="825500" y="612140"/>
                  <a:pt x="828040" y="612140"/>
                </a:cubicBezTo>
                <a:cubicBezTo>
                  <a:pt x="830580" y="612140"/>
                  <a:pt x="831850" y="612140"/>
                  <a:pt x="834390" y="612140"/>
                </a:cubicBezTo>
                <a:cubicBezTo>
                  <a:pt x="835660" y="612140"/>
                  <a:pt x="835660" y="612140"/>
                  <a:pt x="836930" y="612140"/>
                </a:cubicBezTo>
                <a:cubicBezTo>
                  <a:pt x="836930" y="612140"/>
                  <a:pt x="836930" y="612140"/>
                  <a:pt x="838200" y="612140"/>
                </a:cubicBezTo>
                <a:cubicBezTo>
                  <a:pt x="838200" y="612140"/>
                  <a:pt x="842010" y="613410"/>
                  <a:pt x="843280" y="613410"/>
                </a:cubicBezTo>
                <a:cubicBezTo>
                  <a:pt x="844550" y="613410"/>
                  <a:pt x="844550" y="613410"/>
                  <a:pt x="845820" y="613410"/>
                </a:cubicBezTo>
                <a:cubicBezTo>
                  <a:pt x="847090" y="613410"/>
                  <a:pt x="848360" y="614680"/>
                  <a:pt x="849630" y="614680"/>
                </a:cubicBezTo>
                <a:cubicBezTo>
                  <a:pt x="852170" y="615950"/>
                  <a:pt x="858520" y="617220"/>
                  <a:pt x="858520" y="617220"/>
                </a:cubicBezTo>
                <a:cubicBezTo>
                  <a:pt x="858520" y="617220"/>
                  <a:pt x="859790" y="618490"/>
                  <a:pt x="861060" y="618490"/>
                </a:cubicBezTo>
                <a:cubicBezTo>
                  <a:pt x="862330" y="619760"/>
                  <a:pt x="862330" y="619760"/>
                  <a:pt x="863600" y="619760"/>
                </a:cubicBezTo>
                <a:cubicBezTo>
                  <a:pt x="864870" y="619760"/>
                  <a:pt x="867410" y="622300"/>
                  <a:pt x="867410" y="622300"/>
                </a:cubicBezTo>
                <a:cubicBezTo>
                  <a:pt x="867410" y="622300"/>
                  <a:pt x="869950" y="623570"/>
                  <a:pt x="871220" y="623570"/>
                </a:cubicBezTo>
                <a:cubicBezTo>
                  <a:pt x="872490" y="624840"/>
                  <a:pt x="872490" y="624840"/>
                  <a:pt x="873760" y="626110"/>
                </a:cubicBezTo>
                <a:cubicBezTo>
                  <a:pt x="873760" y="626110"/>
                  <a:pt x="876300" y="627380"/>
                  <a:pt x="876300" y="627380"/>
                </a:cubicBezTo>
                <a:cubicBezTo>
                  <a:pt x="876300" y="627380"/>
                  <a:pt x="877570" y="629920"/>
                  <a:pt x="878840" y="629920"/>
                </a:cubicBezTo>
                <a:cubicBezTo>
                  <a:pt x="880110" y="629920"/>
                  <a:pt x="883920" y="629920"/>
                  <a:pt x="883920" y="629920"/>
                </a:cubicBezTo>
                <a:cubicBezTo>
                  <a:pt x="883920" y="629920"/>
                  <a:pt x="890270" y="631190"/>
                  <a:pt x="894080" y="631190"/>
                </a:cubicBezTo>
                <a:cubicBezTo>
                  <a:pt x="896620" y="632460"/>
                  <a:pt x="904240" y="632460"/>
                  <a:pt x="904240" y="632460"/>
                </a:cubicBezTo>
                <a:cubicBezTo>
                  <a:pt x="904240" y="632460"/>
                  <a:pt x="910590" y="635000"/>
                  <a:pt x="913130" y="637540"/>
                </a:cubicBezTo>
                <a:cubicBezTo>
                  <a:pt x="915670" y="638810"/>
                  <a:pt x="922020" y="641350"/>
                  <a:pt x="922020" y="641350"/>
                </a:cubicBezTo>
                <a:cubicBezTo>
                  <a:pt x="923290" y="641350"/>
                  <a:pt x="961390" y="640080"/>
                  <a:pt x="963930" y="636270"/>
                </a:cubicBezTo>
                <a:cubicBezTo>
                  <a:pt x="965200" y="635000"/>
                  <a:pt x="965200" y="633730"/>
                  <a:pt x="963930" y="632460"/>
                </a:cubicBezTo>
                <a:cubicBezTo>
                  <a:pt x="956310" y="623570"/>
                  <a:pt x="872490" y="600710"/>
                  <a:pt x="830580" y="588010"/>
                </a:cubicBezTo>
                <a:cubicBezTo>
                  <a:pt x="792480" y="576580"/>
                  <a:pt x="755650" y="576580"/>
                  <a:pt x="720090" y="558800"/>
                </a:cubicBezTo>
                <a:cubicBezTo>
                  <a:pt x="679450" y="539750"/>
                  <a:pt x="601980" y="472440"/>
                  <a:pt x="601980" y="472440"/>
                </a:cubicBezTo>
              </a:path>
            </a:pathLst>
          </a:custGeom>
          <a:solidFill>
            <a:srgbClr val="042b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" name="Google Shape;120;p2"/>
          <p:cNvSpPr/>
          <p:nvPr/>
        </p:nvSpPr>
        <p:spPr>
          <a:xfrm>
            <a:off x="15253560" y="4212000"/>
            <a:ext cx="1153080" cy="1437120"/>
          </a:xfrm>
          <a:custGeom>
            <a:avLst/>
            <a:gdLst>
              <a:gd name="textAreaLeft" fmla="*/ 0 w 1153080"/>
              <a:gd name="textAreaRight" fmla="*/ 1153440 w 1153080"/>
              <a:gd name="textAreaTop" fmla="*/ 0 h 1437120"/>
              <a:gd name="textAreaBottom" fmla="*/ 1437480 h 1437120"/>
            </a:gdLst>
            <a:ahLst/>
            <a:rect l="textAreaLeft" t="textAreaTop" r="textAreaRight" b="textAreaBottom"/>
            <a:pathLst>
              <a:path w="1537828" h="1916430">
                <a:moveTo>
                  <a:pt x="1181" y="412750"/>
                </a:moveTo>
                <a:cubicBezTo>
                  <a:pt x="14174" y="287020"/>
                  <a:pt x="18898" y="262890"/>
                  <a:pt x="24804" y="234950"/>
                </a:cubicBezTo>
                <a:cubicBezTo>
                  <a:pt x="33072" y="203200"/>
                  <a:pt x="38977" y="165100"/>
                  <a:pt x="54332" y="134620"/>
                </a:cubicBezTo>
                <a:cubicBezTo>
                  <a:pt x="67324" y="105410"/>
                  <a:pt x="85041" y="74930"/>
                  <a:pt x="109845" y="54610"/>
                </a:cubicBezTo>
                <a:cubicBezTo>
                  <a:pt x="135830" y="33020"/>
                  <a:pt x="173626" y="16510"/>
                  <a:pt x="207878" y="8890"/>
                </a:cubicBezTo>
                <a:cubicBezTo>
                  <a:pt x="243312" y="0"/>
                  <a:pt x="278746" y="2540"/>
                  <a:pt x="317723" y="3810"/>
                </a:cubicBezTo>
                <a:cubicBezTo>
                  <a:pt x="362606" y="3810"/>
                  <a:pt x="415757" y="8890"/>
                  <a:pt x="459459" y="13970"/>
                </a:cubicBezTo>
                <a:cubicBezTo>
                  <a:pt x="497255" y="19050"/>
                  <a:pt x="527964" y="24130"/>
                  <a:pt x="563398" y="31750"/>
                </a:cubicBezTo>
                <a:cubicBezTo>
                  <a:pt x="601194" y="39370"/>
                  <a:pt x="644896" y="45720"/>
                  <a:pt x="680330" y="57150"/>
                </a:cubicBezTo>
                <a:cubicBezTo>
                  <a:pt x="708677" y="67310"/>
                  <a:pt x="750016" y="91440"/>
                  <a:pt x="758284" y="92710"/>
                </a:cubicBezTo>
                <a:cubicBezTo>
                  <a:pt x="759465" y="92710"/>
                  <a:pt x="758284" y="91440"/>
                  <a:pt x="760646" y="91440"/>
                </a:cubicBezTo>
                <a:cubicBezTo>
                  <a:pt x="767733" y="91440"/>
                  <a:pt x="810253" y="99060"/>
                  <a:pt x="837419" y="106680"/>
                </a:cubicBezTo>
                <a:cubicBezTo>
                  <a:pt x="870491" y="116840"/>
                  <a:pt x="909468" y="133350"/>
                  <a:pt x="942540" y="148590"/>
                </a:cubicBezTo>
                <a:cubicBezTo>
                  <a:pt x="973249" y="163830"/>
                  <a:pt x="1007502" y="200660"/>
                  <a:pt x="1028762" y="196850"/>
                </a:cubicBezTo>
                <a:cubicBezTo>
                  <a:pt x="1044117" y="193040"/>
                  <a:pt x="1046479" y="166370"/>
                  <a:pt x="1063015" y="154940"/>
                </a:cubicBezTo>
                <a:cubicBezTo>
                  <a:pt x="1084275" y="138430"/>
                  <a:pt x="1123252" y="124460"/>
                  <a:pt x="1152781" y="116840"/>
                </a:cubicBezTo>
                <a:cubicBezTo>
                  <a:pt x="1178765" y="111760"/>
                  <a:pt x="1202388" y="106680"/>
                  <a:pt x="1228373" y="113030"/>
                </a:cubicBezTo>
                <a:cubicBezTo>
                  <a:pt x="1260263" y="119380"/>
                  <a:pt x="1301603" y="140970"/>
                  <a:pt x="1325225" y="166370"/>
                </a:cubicBezTo>
                <a:cubicBezTo>
                  <a:pt x="1346485" y="189230"/>
                  <a:pt x="1358297" y="218440"/>
                  <a:pt x="1367746" y="251460"/>
                </a:cubicBezTo>
                <a:cubicBezTo>
                  <a:pt x="1379557" y="288290"/>
                  <a:pt x="1381919" y="341630"/>
                  <a:pt x="1384282" y="382270"/>
                </a:cubicBezTo>
                <a:cubicBezTo>
                  <a:pt x="1386644" y="416560"/>
                  <a:pt x="1387825" y="450850"/>
                  <a:pt x="1386644" y="480060"/>
                </a:cubicBezTo>
                <a:cubicBezTo>
                  <a:pt x="1385463" y="501650"/>
                  <a:pt x="1378376" y="533400"/>
                  <a:pt x="1381919" y="539750"/>
                </a:cubicBezTo>
                <a:cubicBezTo>
                  <a:pt x="1381919" y="541020"/>
                  <a:pt x="1383100" y="541020"/>
                  <a:pt x="1384282" y="541020"/>
                </a:cubicBezTo>
                <a:cubicBezTo>
                  <a:pt x="1386644" y="543560"/>
                  <a:pt x="1392549" y="549910"/>
                  <a:pt x="1396093" y="554990"/>
                </a:cubicBezTo>
                <a:cubicBezTo>
                  <a:pt x="1399636" y="560070"/>
                  <a:pt x="1405542" y="571500"/>
                  <a:pt x="1405542" y="571500"/>
                </a:cubicBezTo>
                <a:cubicBezTo>
                  <a:pt x="1405542" y="571500"/>
                  <a:pt x="1425621" y="618490"/>
                  <a:pt x="1429164" y="631190"/>
                </a:cubicBezTo>
                <a:cubicBezTo>
                  <a:pt x="1430346" y="635000"/>
                  <a:pt x="1429164" y="638810"/>
                  <a:pt x="1431527" y="641350"/>
                </a:cubicBezTo>
                <a:cubicBezTo>
                  <a:pt x="1431527" y="642620"/>
                  <a:pt x="1433889" y="641350"/>
                  <a:pt x="1435070" y="643890"/>
                </a:cubicBezTo>
                <a:cubicBezTo>
                  <a:pt x="1445700" y="651510"/>
                  <a:pt x="1485858" y="687070"/>
                  <a:pt x="1502394" y="713740"/>
                </a:cubicBezTo>
                <a:cubicBezTo>
                  <a:pt x="1518930" y="739140"/>
                  <a:pt x="1533104" y="768350"/>
                  <a:pt x="1535466" y="798830"/>
                </a:cubicBezTo>
                <a:cubicBezTo>
                  <a:pt x="1537828" y="831850"/>
                  <a:pt x="1529560" y="882650"/>
                  <a:pt x="1509481" y="904240"/>
                </a:cubicBezTo>
                <a:cubicBezTo>
                  <a:pt x="1489402" y="925830"/>
                  <a:pt x="1437432" y="913130"/>
                  <a:pt x="1416172" y="933450"/>
                </a:cubicBezTo>
                <a:cubicBezTo>
                  <a:pt x="1396093" y="949960"/>
                  <a:pt x="1397274" y="990600"/>
                  <a:pt x="1379557" y="1010920"/>
                </a:cubicBezTo>
                <a:cubicBezTo>
                  <a:pt x="1361840" y="1029970"/>
                  <a:pt x="1328769" y="1035050"/>
                  <a:pt x="1311052" y="1052830"/>
                </a:cubicBezTo>
                <a:cubicBezTo>
                  <a:pt x="1295697" y="1069340"/>
                  <a:pt x="1293335" y="1089660"/>
                  <a:pt x="1276799" y="1112520"/>
                </a:cubicBezTo>
                <a:cubicBezTo>
                  <a:pt x="1248452" y="1151890"/>
                  <a:pt x="1184671" y="1220470"/>
                  <a:pt x="1144513" y="1257300"/>
                </a:cubicBezTo>
                <a:cubicBezTo>
                  <a:pt x="1116166" y="1285240"/>
                  <a:pt x="1093724" y="1304290"/>
                  <a:pt x="1065377" y="1322070"/>
                </a:cubicBezTo>
                <a:cubicBezTo>
                  <a:pt x="1035849" y="1341120"/>
                  <a:pt x="987423" y="1339850"/>
                  <a:pt x="969706" y="1366520"/>
                </a:cubicBezTo>
                <a:cubicBezTo>
                  <a:pt x="949627" y="1395730"/>
                  <a:pt x="963800" y="1454150"/>
                  <a:pt x="957894" y="1497330"/>
                </a:cubicBezTo>
                <a:cubicBezTo>
                  <a:pt x="951989" y="1540510"/>
                  <a:pt x="941359" y="1588770"/>
                  <a:pt x="934272" y="1625600"/>
                </a:cubicBezTo>
                <a:cubicBezTo>
                  <a:pt x="928366" y="1656080"/>
                  <a:pt x="926004" y="1677670"/>
                  <a:pt x="917736" y="1706880"/>
                </a:cubicBezTo>
                <a:cubicBezTo>
                  <a:pt x="907106" y="1741170"/>
                  <a:pt x="890570" y="1786890"/>
                  <a:pt x="872853" y="1816100"/>
                </a:cubicBezTo>
                <a:cubicBezTo>
                  <a:pt x="857499" y="1840230"/>
                  <a:pt x="845687" y="1858010"/>
                  <a:pt x="822065" y="1873250"/>
                </a:cubicBezTo>
                <a:cubicBezTo>
                  <a:pt x="788993" y="1894840"/>
                  <a:pt x="725212" y="1916430"/>
                  <a:pt x="680330" y="1916430"/>
                </a:cubicBezTo>
                <a:cubicBezTo>
                  <a:pt x="637809" y="1915160"/>
                  <a:pt x="597651" y="1897380"/>
                  <a:pt x="559854" y="1874520"/>
                </a:cubicBezTo>
                <a:cubicBezTo>
                  <a:pt x="517334" y="1847850"/>
                  <a:pt x="470089" y="1800860"/>
                  <a:pt x="440561" y="1760220"/>
                </a:cubicBezTo>
                <a:cubicBezTo>
                  <a:pt x="414576" y="1724660"/>
                  <a:pt x="402765" y="1680210"/>
                  <a:pt x="385048" y="1648460"/>
                </a:cubicBezTo>
                <a:cubicBezTo>
                  <a:pt x="370874" y="1621790"/>
                  <a:pt x="355519" y="1604010"/>
                  <a:pt x="343708" y="1577340"/>
                </a:cubicBezTo>
                <a:cubicBezTo>
                  <a:pt x="329535" y="1548130"/>
                  <a:pt x="317723" y="1513840"/>
                  <a:pt x="310637" y="1479550"/>
                </a:cubicBezTo>
                <a:cubicBezTo>
                  <a:pt x="302369" y="1442720"/>
                  <a:pt x="298825" y="1402080"/>
                  <a:pt x="296463" y="1362710"/>
                </a:cubicBezTo>
                <a:cubicBezTo>
                  <a:pt x="292920" y="1320800"/>
                  <a:pt x="291738" y="1281430"/>
                  <a:pt x="292920" y="1236980"/>
                </a:cubicBezTo>
                <a:cubicBezTo>
                  <a:pt x="292920" y="1187450"/>
                  <a:pt x="297644" y="1118870"/>
                  <a:pt x="302369" y="1079500"/>
                </a:cubicBezTo>
                <a:cubicBezTo>
                  <a:pt x="304731" y="1055370"/>
                  <a:pt x="309455" y="1045210"/>
                  <a:pt x="310637" y="1022350"/>
                </a:cubicBezTo>
                <a:cubicBezTo>
                  <a:pt x="311818" y="982980"/>
                  <a:pt x="297644" y="906780"/>
                  <a:pt x="297644" y="868680"/>
                </a:cubicBezTo>
                <a:cubicBezTo>
                  <a:pt x="297644" y="844550"/>
                  <a:pt x="307093" y="812800"/>
                  <a:pt x="302369" y="811530"/>
                </a:cubicBezTo>
                <a:cubicBezTo>
                  <a:pt x="298825" y="810260"/>
                  <a:pt x="291738" y="842010"/>
                  <a:pt x="278746" y="850900"/>
                </a:cubicBezTo>
                <a:cubicBezTo>
                  <a:pt x="262210" y="862330"/>
                  <a:pt x="231501" y="869950"/>
                  <a:pt x="206697" y="864870"/>
                </a:cubicBezTo>
                <a:cubicBezTo>
                  <a:pt x="173626" y="858520"/>
                  <a:pt x="132286" y="826770"/>
                  <a:pt x="103939" y="798830"/>
                </a:cubicBezTo>
                <a:cubicBezTo>
                  <a:pt x="76773" y="770890"/>
                  <a:pt x="56694" y="736600"/>
                  <a:pt x="40158" y="701040"/>
                </a:cubicBezTo>
                <a:cubicBezTo>
                  <a:pt x="23623" y="666750"/>
                  <a:pt x="12992" y="623570"/>
                  <a:pt x="5906" y="589280"/>
                </a:cubicBezTo>
                <a:cubicBezTo>
                  <a:pt x="1181" y="561340"/>
                  <a:pt x="2362" y="538480"/>
                  <a:pt x="1181" y="511810"/>
                </a:cubicBezTo>
                <a:cubicBezTo>
                  <a:pt x="0" y="481330"/>
                  <a:pt x="1181" y="412750"/>
                  <a:pt x="1181" y="412750"/>
                </a:cubicBezTo>
                <a:moveTo>
                  <a:pt x="161814" y="411480"/>
                </a:moveTo>
                <a:cubicBezTo>
                  <a:pt x="164177" y="530860"/>
                  <a:pt x="161814" y="561340"/>
                  <a:pt x="167720" y="581660"/>
                </a:cubicBezTo>
                <a:cubicBezTo>
                  <a:pt x="172445" y="595630"/>
                  <a:pt x="181894" y="617220"/>
                  <a:pt x="188980" y="615950"/>
                </a:cubicBezTo>
                <a:cubicBezTo>
                  <a:pt x="198429" y="614680"/>
                  <a:pt x="205516" y="562610"/>
                  <a:pt x="216146" y="534670"/>
                </a:cubicBezTo>
                <a:cubicBezTo>
                  <a:pt x="227958" y="505460"/>
                  <a:pt x="236226" y="466090"/>
                  <a:pt x="259848" y="445770"/>
                </a:cubicBezTo>
                <a:cubicBezTo>
                  <a:pt x="285833" y="422910"/>
                  <a:pt x="349614" y="412750"/>
                  <a:pt x="376780" y="414020"/>
                </a:cubicBezTo>
                <a:cubicBezTo>
                  <a:pt x="389772" y="415290"/>
                  <a:pt x="400402" y="429260"/>
                  <a:pt x="407489" y="425450"/>
                </a:cubicBezTo>
                <a:cubicBezTo>
                  <a:pt x="413395" y="422910"/>
                  <a:pt x="411032" y="410210"/>
                  <a:pt x="415757" y="400050"/>
                </a:cubicBezTo>
                <a:cubicBezTo>
                  <a:pt x="425206" y="378460"/>
                  <a:pt x="452372" y="337820"/>
                  <a:pt x="468908" y="309880"/>
                </a:cubicBezTo>
                <a:cubicBezTo>
                  <a:pt x="483081" y="284480"/>
                  <a:pt x="496074" y="256540"/>
                  <a:pt x="510247" y="236220"/>
                </a:cubicBezTo>
                <a:cubicBezTo>
                  <a:pt x="522058" y="220980"/>
                  <a:pt x="546862" y="204470"/>
                  <a:pt x="543319" y="195580"/>
                </a:cubicBezTo>
                <a:cubicBezTo>
                  <a:pt x="540956" y="186690"/>
                  <a:pt x="503160" y="193040"/>
                  <a:pt x="479538" y="190500"/>
                </a:cubicBezTo>
                <a:cubicBezTo>
                  <a:pt x="450010" y="186690"/>
                  <a:pt x="414576" y="176530"/>
                  <a:pt x="379142" y="173990"/>
                </a:cubicBezTo>
                <a:cubicBezTo>
                  <a:pt x="341346" y="171450"/>
                  <a:pt x="292920" y="165100"/>
                  <a:pt x="259848" y="176530"/>
                </a:cubicBezTo>
                <a:cubicBezTo>
                  <a:pt x="232682" y="186690"/>
                  <a:pt x="205516" y="204470"/>
                  <a:pt x="191343" y="227330"/>
                </a:cubicBezTo>
                <a:cubicBezTo>
                  <a:pt x="178350" y="246380"/>
                  <a:pt x="177169" y="273050"/>
                  <a:pt x="172445" y="300990"/>
                </a:cubicBezTo>
                <a:cubicBezTo>
                  <a:pt x="166539" y="334010"/>
                  <a:pt x="161814" y="411480"/>
                  <a:pt x="161814" y="411480"/>
                </a:cubicBezTo>
                <a:moveTo>
                  <a:pt x="426387" y="1272540"/>
                </a:moveTo>
                <a:cubicBezTo>
                  <a:pt x="434655" y="1388110"/>
                  <a:pt x="442923" y="1459230"/>
                  <a:pt x="458277" y="1501140"/>
                </a:cubicBezTo>
                <a:cubicBezTo>
                  <a:pt x="470089" y="1532890"/>
                  <a:pt x="486625" y="1550670"/>
                  <a:pt x="504341" y="1579880"/>
                </a:cubicBezTo>
                <a:cubicBezTo>
                  <a:pt x="527964" y="1620520"/>
                  <a:pt x="553949" y="1685290"/>
                  <a:pt x="585839" y="1719580"/>
                </a:cubicBezTo>
                <a:cubicBezTo>
                  <a:pt x="610643" y="1746250"/>
                  <a:pt x="640171" y="1770380"/>
                  <a:pt x="670880" y="1774190"/>
                </a:cubicBezTo>
                <a:cubicBezTo>
                  <a:pt x="700409" y="1779270"/>
                  <a:pt x="741748" y="1766570"/>
                  <a:pt x="764190" y="1747520"/>
                </a:cubicBezTo>
                <a:cubicBezTo>
                  <a:pt x="784269" y="1731010"/>
                  <a:pt x="791356" y="1700530"/>
                  <a:pt x="800804" y="1675130"/>
                </a:cubicBezTo>
                <a:cubicBezTo>
                  <a:pt x="809072" y="1651000"/>
                  <a:pt x="812616" y="1628140"/>
                  <a:pt x="819703" y="1601470"/>
                </a:cubicBezTo>
                <a:cubicBezTo>
                  <a:pt x="826789" y="1567180"/>
                  <a:pt x="836238" y="1522730"/>
                  <a:pt x="840963" y="1487170"/>
                </a:cubicBezTo>
                <a:cubicBezTo>
                  <a:pt x="845687" y="1455420"/>
                  <a:pt x="858680" y="1409700"/>
                  <a:pt x="848050" y="1398270"/>
                </a:cubicBezTo>
                <a:cubicBezTo>
                  <a:pt x="838601" y="1388110"/>
                  <a:pt x="812616" y="1404620"/>
                  <a:pt x="793718" y="1404620"/>
                </a:cubicBezTo>
                <a:cubicBezTo>
                  <a:pt x="771276" y="1403350"/>
                  <a:pt x="745292" y="1398270"/>
                  <a:pt x="724031" y="1388110"/>
                </a:cubicBezTo>
                <a:cubicBezTo>
                  <a:pt x="701590" y="1379220"/>
                  <a:pt x="668518" y="1356360"/>
                  <a:pt x="661431" y="1348740"/>
                </a:cubicBezTo>
                <a:cubicBezTo>
                  <a:pt x="659069" y="1346200"/>
                  <a:pt x="660250" y="1344930"/>
                  <a:pt x="657888" y="1343660"/>
                </a:cubicBezTo>
                <a:cubicBezTo>
                  <a:pt x="653164" y="1341120"/>
                  <a:pt x="635447" y="1348740"/>
                  <a:pt x="618911" y="1348740"/>
                </a:cubicBezTo>
                <a:cubicBezTo>
                  <a:pt x="587020" y="1347470"/>
                  <a:pt x="513790" y="1338580"/>
                  <a:pt x="480719" y="1320800"/>
                </a:cubicBezTo>
                <a:cubicBezTo>
                  <a:pt x="455915" y="1309370"/>
                  <a:pt x="426387" y="1272540"/>
                  <a:pt x="426387" y="1272540"/>
                </a:cubicBezTo>
                <a:moveTo>
                  <a:pt x="450010" y="953770"/>
                </a:moveTo>
                <a:cubicBezTo>
                  <a:pt x="455915" y="1007110"/>
                  <a:pt x="468908" y="1055370"/>
                  <a:pt x="485443" y="1089660"/>
                </a:cubicBezTo>
                <a:cubicBezTo>
                  <a:pt x="503160" y="1127760"/>
                  <a:pt x="538594" y="1189990"/>
                  <a:pt x="557492" y="1198880"/>
                </a:cubicBezTo>
                <a:cubicBezTo>
                  <a:pt x="565760" y="1202690"/>
                  <a:pt x="575209" y="1202690"/>
                  <a:pt x="579934" y="1197610"/>
                </a:cubicBezTo>
                <a:cubicBezTo>
                  <a:pt x="587020" y="1186180"/>
                  <a:pt x="569303" y="1144270"/>
                  <a:pt x="566941" y="1113790"/>
                </a:cubicBezTo>
                <a:cubicBezTo>
                  <a:pt x="563398" y="1078230"/>
                  <a:pt x="561036" y="1036320"/>
                  <a:pt x="562217" y="995680"/>
                </a:cubicBezTo>
                <a:cubicBezTo>
                  <a:pt x="564579" y="951230"/>
                  <a:pt x="591745" y="889000"/>
                  <a:pt x="577571" y="859790"/>
                </a:cubicBezTo>
                <a:cubicBezTo>
                  <a:pt x="566941" y="836930"/>
                  <a:pt x="526783" y="833120"/>
                  <a:pt x="512609" y="819150"/>
                </a:cubicBezTo>
                <a:cubicBezTo>
                  <a:pt x="504341" y="810260"/>
                  <a:pt x="500798" y="792480"/>
                  <a:pt x="497255" y="792480"/>
                </a:cubicBezTo>
                <a:cubicBezTo>
                  <a:pt x="494892" y="792480"/>
                  <a:pt x="493711" y="797560"/>
                  <a:pt x="491349" y="803910"/>
                </a:cubicBezTo>
                <a:cubicBezTo>
                  <a:pt x="486625" y="817880"/>
                  <a:pt x="473632" y="857250"/>
                  <a:pt x="466545" y="883920"/>
                </a:cubicBezTo>
                <a:cubicBezTo>
                  <a:pt x="459459" y="908050"/>
                  <a:pt x="450010" y="953770"/>
                  <a:pt x="450010" y="953770"/>
                </a:cubicBezTo>
                <a:moveTo>
                  <a:pt x="537413" y="469900"/>
                </a:moveTo>
                <a:cubicBezTo>
                  <a:pt x="590564" y="426720"/>
                  <a:pt x="620092" y="405130"/>
                  <a:pt x="647258" y="392430"/>
                </a:cubicBezTo>
                <a:cubicBezTo>
                  <a:pt x="674424" y="379730"/>
                  <a:pt x="711039" y="369570"/>
                  <a:pt x="733480" y="368300"/>
                </a:cubicBezTo>
                <a:cubicBezTo>
                  <a:pt x="748835" y="367030"/>
                  <a:pt x="765371" y="379730"/>
                  <a:pt x="771276" y="373380"/>
                </a:cubicBezTo>
                <a:cubicBezTo>
                  <a:pt x="779544" y="360680"/>
                  <a:pt x="745292" y="275590"/>
                  <a:pt x="732299" y="260350"/>
                </a:cubicBezTo>
                <a:cubicBezTo>
                  <a:pt x="726394" y="254000"/>
                  <a:pt x="720488" y="252730"/>
                  <a:pt x="715763" y="251460"/>
                </a:cubicBezTo>
                <a:cubicBezTo>
                  <a:pt x="711039" y="251460"/>
                  <a:pt x="708677" y="251460"/>
                  <a:pt x="703952" y="254000"/>
                </a:cubicBezTo>
                <a:cubicBezTo>
                  <a:pt x="688597" y="260350"/>
                  <a:pt x="650801" y="287020"/>
                  <a:pt x="627179" y="314960"/>
                </a:cubicBezTo>
                <a:cubicBezTo>
                  <a:pt x="597651" y="349250"/>
                  <a:pt x="558673" y="425450"/>
                  <a:pt x="545681" y="450850"/>
                </a:cubicBezTo>
                <a:cubicBezTo>
                  <a:pt x="540956" y="459740"/>
                  <a:pt x="537413" y="469900"/>
                  <a:pt x="537413" y="469900"/>
                </a:cubicBezTo>
                <a:moveTo>
                  <a:pt x="587020" y="615950"/>
                </a:moveTo>
                <a:cubicBezTo>
                  <a:pt x="623635" y="695960"/>
                  <a:pt x="634266" y="613410"/>
                  <a:pt x="642533" y="589280"/>
                </a:cubicBezTo>
                <a:cubicBezTo>
                  <a:pt x="646077" y="576580"/>
                  <a:pt x="654345" y="562610"/>
                  <a:pt x="650801" y="561340"/>
                </a:cubicBezTo>
                <a:cubicBezTo>
                  <a:pt x="647258" y="557530"/>
                  <a:pt x="587020" y="615950"/>
                  <a:pt x="587020" y="615950"/>
                </a:cubicBezTo>
                <a:moveTo>
                  <a:pt x="700409" y="989330"/>
                </a:moveTo>
                <a:cubicBezTo>
                  <a:pt x="709858" y="1121410"/>
                  <a:pt x="709858" y="1167130"/>
                  <a:pt x="721669" y="1176020"/>
                </a:cubicBezTo>
                <a:cubicBezTo>
                  <a:pt x="728756" y="1181100"/>
                  <a:pt x="737024" y="1173480"/>
                  <a:pt x="748835" y="1169670"/>
                </a:cubicBezTo>
                <a:cubicBezTo>
                  <a:pt x="773639" y="1162050"/>
                  <a:pt x="840963" y="1148080"/>
                  <a:pt x="855136" y="1123950"/>
                </a:cubicBezTo>
                <a:cubicBezTo>
                  <a:pt x="865766" y="1107440"/>
                  <a:pt x="862223" y="1079500"/>
                  <a:pt x="855136" y="1060450"/>
                </a:cubicBezTo>
                <a:cubicBezTo>
                  <a:pt x="846869" y="1038860"/>
                  <a:pt x="822065" y="1021080"/>
                  <a:pt x="803167" y="1004570"/>
                </a:cubicBezTo>
                <a:cubicBezTo>
                  <a:pt x="785450" y="988060"/>
                  <a:pt x="761827" y="974090"/>
                  <a:pt x="744110" y="962660"/>
                </a:cubicBezTo>
                <a:cubicBezTo>
                  <a:pt x="728756" y="952500"/>
                  <a:pt x="711039" y="932180"/>
                  <a:pt x="703952" y="935990"/>
                </a:cubicBezTo>
                <a:cubicBezTo>
                  <a:pt x="696865" y="939800"/>
                  <a:pt x="700409" y="989330"/>
                  <a:pt x="700409" y="989330"/>
                </a:cubicBezTo>
                <a:moveTo>
                  <a:pt x="729937" y="754380"/>
                </a:moveTo>
                <a:cubicBezTo>
                  <a:pt x="734661" y="755650"/>
                  <a:pt x="732299" y="745490"/>
                  <a:pt x="732299" y="745490"/>
                </a:cubicBezTo>
                <a:cubicBezTo>
                  <a:pt x="732299" y="745490"/>
                  <a:pt x="729937" y="754380"/>
                  <a:pt x="729937" y="754380"/>
                </a:cubicBezTo>
                <a:moveTo>
                  <a:pt x="750016" y="676910"/>
                </a:moveTo>
                <a:cubicBezTo>
                  <a:pt x="799623" y="614680"/>
                  <a:pt x="817340" y="619760"/>
                  <a:pt x="819703" y="617220"/>
                </a:cubicBezTo>
                <a:cubicBezTo>
                  <a:pt x="819703" y="617220"/>
                  <a:pt x="819703" y="615950"/>
                  <a:pt x="818521" y="614680"/>
                </a:cubicBezTo>
                <a:cubicBezTo>
                  <a:pt x="818521" y="608330"/>
                  <a:pt x="811435" y="547370"/>
                  <a:pt x="804348" y="538480"/>
                </a:cubicBezTo>
                <a:cubicBezTo>
                  <a:pt x="801986" y="535940"/>
                  <a:pt x="799623" y="535940"/>
                  <a:pt x="796080" y="537210"/>
                </a:cubicBezTo>
                <a:cubicBezTo>
                  <a:pt x="786631" y="542290"/>
                  <a:pt x="771276" y="600710"/>
                  <a:pt x="763008" y="626110"/>
                </a:cubicBezTo>
                <a:cubicBezTo>
                  <a:pt x="757103" y="645160"/>
                  <a:pt x="750016" y="676910"/>
                  <a:pt x="750016" y="676910"/>
                </a:cubicBezTo>
                <a:moveTo>
                  <a:pt x="902381" y="303530"/>
                </a:moveTo>
                <a:cubicBezTo>
                  <a:pt x="916555" y="358140"/>
                  <a:pt x="917736" y="405130"/>
                  <a:pt x="922461" y="405130"/>
                </a:cubicBezTo>
                <a:cubicBezTo>
                  <a:pt x="927185" y="406400"/>
                  <a:pt x="936634" y="353060"/>
                  <a:pt x="941359" y="340360"/>
                </a:cubicBezTo>
                <a:cubicBezTo>
                  <a:pt x="943721" y="334010"/>
                  <a:pt x="948445" y="332740"/>
                  <a:pt x="947264" y="328930"/>
                </a:cubicBezTo>
                <a:cubicBezTo>
                  <a:pt x="946083" y="322580"/>
                  <a:pt x="923642" y="317500"/>
                  <a:pt x="915374" y="312420"/>
                </a:cubicBezTo>
                <a:cubicBezTo>
                  <a:pt x="909468" y="308610"/>
                  <a:pt x="902381" y="303530"/>
                  <a:pt x="902381" y="303530"/>
                </a:cubicBezTo>
                <a:moveTo>
                  <a:pt x="1025219" y="1168400"/>
                </a:moveTo>
                <a:cubicBezTo>
                  <a:pt x="1059471" y="1137920"/>
                  <a:pt x="1085456" y="1117600"/>
                  <a:pt x="1085456" y="1109980"/>
                </a:cubicBezTo>
                <a:cubicBezTo>
                  <a:pt x="1085456" y="1106170"/>
                  <a:pt x="1079551" y="1101090"/>
                  <a:pt x="1077188" y="1102360"/>
                </a:cubicBezTo>
                <a:cubicBezTo>
                  <a:pt x="1076007" y="1102360"/>
                  <a:pt x="1074826" y="1109980"/>
                  <a:pt x="1074826" y="1109980"/>
                </a:cubicBezTo>
                <a:cubicBezTo>
                  <a:pt x="1073645" y="1109980"/>
                  <a:pt x="1070102" y="1115060"/>
                  <a:pt x="1067739" y="1117600"/>
                </a:cubicBezTo>
                <a:cubicBezTo>
                  <a:pt x="1066558" y="1120140"/>
                  <a:pt x="1061834" y="1126490"/>
                  <a:pt x="1061834" y="1126490"/>
                </a:cubicBezTo>
                <a:cubicBezTo>
                  <a:pt x="1061834" y="1126490"/>
                  <a:pt x="1057109" y="1130300"/>
                  <a:pt x="1054747" y="1132840"/>
                </a:cubicBezTo>
                <a:cubicBezTo>
                  <a:pt x="1052385" y="1134110"/>
                  <a:pt x="1051204" y="1134110"/>
                  <a:pt x="1048841" y="1136650"/>
                </a:cubicBezTo>
                <a:cubicBezTo>
                  <a:pt x="1042936" y="1143000"/>
                  <a:pt x="1025219" y="1168400"/>
                  <a:pt x="1025219" y="1168400"/>
                </a:cubicBezTo>
                <a:moveTo>
                  <a:pt x="1153962" y="284480"/>
                </a:moveTo>
                <a:cubicBezTo>
                  <a:pt x="1222467" y="354330"/>
                  <a:pt x="1228373" y="375920"/>
                  <a:pt x="1233097" y="374650"/>
                </a:cubicBezTo>
                <a:cubicBezTo>
                  <a:pt x="1239003" y="372110"/>
                  <a:pt x="1244908" y="285750"/>
                  <a:pt x="1229554" y="271780"/>
                </a:cubicBezTo>
                <a:cubicBezTo>
                  <a:pt x="1216561" y="259080"/>
                  <a:pt x="1153962" y="284480"/>
                  <a:pt x="1153962" y="284480"/>
                </a:cubicBezTo>
              </a:path>
            </a:pathLst>
          </a:custGeom>
          <a:solidFill>
            <a:srgbClr val="042b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" name="Google Shape;121;p2"/>
          <p:cNvSpPr/>
          <p:nvPr/>
        </p:nvSpPr>
        <p:spPr>
          <a:xfrm>
            <a:off x="15547320" y="4347000"/>
            <a:ext cx="106164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algn="ctr">
              <a:lnSpc>
                <a:spcPct val="120000"/>
              </a:lnSpc>
              <a:tabLst>
                <a:tab algn="l" pos="0"/>
              </a:tabLst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  <a:ea typeface="Arial"/>
              </a:rPr>
              <a:t>Redis</a:t>
            </a: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f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" name="Google Shape;126;p3"/>
          <p:cNvGrpSpPr/>
          <p:nvPr/>
        </p:nvGrpSpPr>
        <p:grpSpPr>
          <a:xfrm>
            <a:off x="12891960" y="7376040"/>
            <a:ext cx="4009680" cy="1348200"/>
            <a:chOff x="12891960" y="7376040"/>
            <a:chExt cx="4009680" cy="1348200"/>
          </a:xfrm>
        </p:grpSpPr>
        <p:sp>
          <p:nvSpPr>
            <p:cNvPr id="102" name="Google Shape;127;p3"/>
            <p:cNvSpPr/>
            <p:nvPr/>
          </p:nvSpPr>
          <p:spPr>
            <a:xfrm>
              <a:off x="12891960" y="7376040"/>
              <a:ext cx="4009680" cy="345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5720" rIns="45720" tIns="45000" bIns="45000" anchor="t">
              <a:spAutoFit/>
            </a:bodyPr>
            <a:p>
              <a:pPr algn="ctr">
                <a:lnSpc>
                  <a:spcPct val="120000"/>
                </a:lnSpc>
                <a:tabLst>
                  <a:tab algn="l" pos="0"/>
                </a:tabLst>
              </a:pPr>
              <a:r>
                <a:rPr b="1" lang="en-IN" sz="1400" spc="-1" strike="noStrike">
                  <a:solidFill>
                    <a:srgbClr val="b0afd3"/>
                  </a:solidFill>
                  <a:latin typeface="Arial"/>
                  <a:ea typeface="Arial"/>
                </a:rPr>
                <a:t>Automated Response Playbooks</a:t>
              </a:r>
              <a:endParaRPr b="0" lang="en-IN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3" name="Google Shape;128;p3"/>
            <p:cNvSpPr/>
            <p:nvPr/>
          </p:nvSpPr>
          <p:spPr>
            <a:xfrm>
              <a:off x="12891960" y="7866720"/>
              <a:ext cx="4009680" cy="857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5720" rIns="45720" tIns="45000" bIns="45000" anchor="t">
              <a:spAutoFit/>
            </a:bodyPr>
            <a:p>
              <a:pPr algn="ctr">
                <a:lnSpc>
                  <a:spcPct val="120000"/>
                </a:lnSpc>
                <a:tabLst>
                  <a:tab algn="l" pos="0"/>
                </a:tabLst>
              </a:pPr>
              <a:r>
                <a:rPr b="0" lang="en-IN" sz="1400" spc="-1" strike="noStrike">
                  <a:solidFill>
                    <a:srgbClr val="b0afd3"/>
                  </a:solidFill>
                  <a:latin typeface="Arial"/>
                  <a:ea typeface="Arial"/>
                </a:rPr>
                <a:t>Instant response playbooks trigger account lockouts, step-up MFA, IP blocking, and real-time alert notifications for SOC analysts.</a:t>
              </a:r>
              <a:endParaRPr b="0" lang="en-IN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04" name="Google Shape;129;p3"/>
          <p:cNvGrpSpPr/>
          <p:nvPr/>
        </p:nvGrpSpPr>
        <p:grpSpPr>
          <a:xfrm>
            <a:off x="7139160" y="7370640"/>
            <a:ext cx="4009680" cy="1348200"/>
            <a:chOff x="7139160" y="7370640"/>
            <a:chExt cx="4009680" cy="1348200"/>
          </a:xfrm>
        </p:grpSpPr>
        <p:sp>
          <p:nvSpPr>
            <p:cNvPr id="105" name="Google Shape;130;p3"/>
            <p:cNvSpPr/>
            <p:nvPr/>
          </p:nvSpPr>
          <p:spPr>
            <a:xfrm>
              <a:off x="7139160" y="7370640"/>
              <a:ext cx="4009680" cy="345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5720" rIns="45720" tIns="45000" bIns="45000" anchor="t">
              <a:spAutoFit/>
            </a:bodyPr>
            <a:p>
              <a:pPr algn="ctr">
                <a:lnSpc>
                  <a:spcPct val="120000"/>
                </a:lnSpc>
                <a:tabLst>
                  <a:tab algn="l" pos="0"/>
                </a:tabLst>
              </a:pPr>
              <a:r>
                <a:rPr b="1" lang="en-IN" sz="1400" spc="-1" strike="noStrike">
                  <a:solidFill>
                    <a:srgbClr val="b0afd3"/>
                  </a:solidFill>
                  <a:latin typeface="Arial"/>
                  <a:ea typeface="Arial"/>
                </a:rPr>
                <a:t>Dynamic User Risk Scoring</a:t>
              </a:r>
              <a:endParaRPr b="0" lang="en-IN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6" name="Google Shape;131;p3"/>
            <p:cNvSpPr/>
            <p:nvPr/>
          </p:nvSpPr>
          <p:spPr>
            <a:xfrm>
              <a:off x="7139160" y="7861320"/>
              <a:ext cx="4009680" cy="857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5720" rIns="45720" tIns="45000" bIns="45000" anchor="t">
              <a:spAutoFit/>
            </a:bodyPr>
            <a:p>
              <a:pPr algn="ctr">
                <a:lnSpc>
                  <a:spcPct val="120000"/>
                </a:lnSpc>
                <a:tabLst>
                  <a:tab algn="l" pos="0"/>
                </a:tabLst>
              </a:pPr>
              <a:r>
                <a:rPr b="0" lang="en-IN" sz="1400" spc="-1" strike="noStrike">
                  <a:solidFill>
                    <a:srgbClr val="b0afd3"/>
                  </a:solidFill>
                  <a:latin typeface="Arial"/>
                  <a:ea typeface="Arial"/>
                </a:rPr>
                <a:t>Continuous calculation of user risk scores (0–100), categorizing threats into Critical, High, Medium, and Low severity tiers.</a:t>
              </a:r>
              <a:endParaRPr b="0" lang="en-IN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07" name="Google Shape;132;p3"/>
          <p:cNvGrpSpPr/>
          <p:nvPr/>
        </p:nvGrpSpPr>
        <p:grpSpPr>
          <a:xfrm>
            <a:off x="1538280" y="7376040"/>
            <a:ext cx="4009680" cy="1348200"/>
            <a:chOff x="1538280" y="7376040"/>
            <a:chExt cx="4009680" cy="1348200"/>
          </a:xfrm>
        </p:grpSpPr>
        <p:sp>
          <p:nvSpPr>
            <p:cNvPr id="108" name="Google Shape;133;p3"/>
            <p:cNvSpPr/>
            <p:nvPr/>
          </p:nvSpPr>
          <p:spPr>
            <a:xfrm>
              <a:off x="1538280" y="7376040"/>
              <a:ext cx="4009680" cy="345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5720" rIns="45720" tIns="45000" bIns="45000" anchor="t">
              <a:spAutoFit/>
            </a:bodyPr>
            <a:p>
              <a:pPr algn="ctr">
                <a:lnSpc>
                  <a:spcPct val="120000"/>
                </a:lnSpc>
                <a:tabLst>
                  <a:tab algn="l" pos="0"/>
                </a:tabLst>
              </a:pPr>
              <a:r>
                <a:rPr b="1" lang="en-IN" sz="1400" spc="-1" strike="noStrike">
                  <a:solidFill>
                    <a:srgbClr val="b0afd3"/>
                  </a:solidFill>
                  <a:latin typeface="Arial"/>
                  <a:ea typeface="Arial"/>
                </a:rPr>
                <a:t>Real-Time Anomaly Detection</a:t>
              </a:r>
              <a:endParaRPr b="0" lang="en-IN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9" name="Google Shape;134;p3"/>
            <p:cNvSpPr/>
            <p:nvPr/>
          </p:nvSpPr>
          <p:spPr>
            <a:xfrm>
              <a:off x="1538280" y="7866720"/>
              <a:ext cx="4009680" cy="857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5720" rIns="45720" tIns="45000" bIns="45000" anchor="t">
              <a:spAutoFit/>
            </a:bodyPr>
            <a:p>
              <a:pPr algn="ctr">
                <a:lnSpc>
                  <a:spcPct val="120000"/>
                </a:lnSpc>
                <a:tabLst>
                  <a:tab algn="l" pos="0"/>
                </a:tabLst>
              </a:pPr>
              <a:r>
                <a:rPr b="0" lang="en-IN" sz="1400" spc="-1" strike="noStrike">
                  <a:solidFill>
                    <a:srgbClr val="b0afd3"/>
                  </a:solidFill>
                  <a:latin typeface="Arial"/>
                  <a:ea typeface="Arial"/>
                </a:rPr>
                <a:t>Machine learning models (Isolation Forest, Z-score) detect off-hours access, volume spikes, and unusual location activities.</a:t>
              </a:r>
              <a:endParaRPr b="0" lang="en-IN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10" name="Google Shape;135;p3"/>
          <p:cNvSpPr/>
          <p:nvPr/>
        </p:nvSpPr>
        <p:spPr>
          <a:xfrm>
            <a:off x="666720" y="800280"/>
            <a:ext cx="16954200" cy="74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1" lang="en-IN" sz="3600" spc="-1" strike="noStrike">
                <a:solidFill>
                  <a:srgbClr val="b0afd3"/>
                </a:solidFill>
                <a:latin typeface="Arial"/>
                <a:ea typeface="Arial"/>
              </a:rPr>
              <a:t>Core Features of Insider Threat Intel Platform</a:t>
            </a:r>
            <a:endParaRPr b="0" lang="en-IN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" name="Google Shape;136;p3"/>
          <p:cNvSpPr/>
          <p:nvPr/>
        </p:nvSpPr>
        <p:spPr>
          <a:xfrm>
            <a:off x="666720" y="3352680"/>
            <a:ext cx="5447880" cy="3580920"/>
          </a:xfrm>
          <a:custGeom>
            <a:avLst/>
            <a:gdLst>
              <a:gd name="textAreaLeft" fmla="*/ 0 w 5447880"/>
              <a:gd name="textAreaRight" fmla="*/ 5448240 w 5447880"/>
              <a:gd name="textAreaTop" fmla="*/ 0 h 3580920"/>
              <a:gd name="textAreaBottom" fmla="*/ 3581280 h 3580920"/>
            </a:gdLst>
            <a:ahLst/>
            <a:rect l="textAreaLeft" t="textAreaTop" r="textAreaRight" b="textAreaBottom"/>
            <a:pathLst>
              <a:path w="1631088" h="1072184">
                <a:moveTo>
                  <a:pt x="28420" y="0"/>
                </a:moveTo>
                <a:lnTo>
                  <a:pt x="1602669" y="0"/>
                </a:lnTo>
                <a:cubicBezTo>
                  <a:pt x="1618365" y="0"/>
                  <a:pt x="1631088" y="12724"/>
                  <a:pt x="1631088" y="28420"/>
                </a:cubicBezTo>
                <a:lnTo>
                  <a:pt x="1631088" y="1043764"/>
                </a:lnTo>
                <a:cubicBezTo>
                  <a:pt x="1631088" y="1059460"/>
                  <a:pt x="1618365" y="1072184"/>
                  <a:pt x="1602669" y="1072184"/>
                </a:cubicBezTo>
                <a:lnTo>
                  <a:pt x="28420" y="1072184"/>
                </a:lnTo>
                <a:cubicBezTo>
                  <a:pt x="12724" y="1072184"/>
                  <a:pt x="0" y="1059460"/>
                  <a:pt x="0" y="1043764"/>
                </a:cubicBezTo>
                <a:lnTo>
                  <a:pt x="0" y="28420"/>
                </a:lnTo>
                <a:cubicBezTo>
                  <a:pt x="0" y="12724"/>
                  <a:pt x="12724" y="0"/>
                  <a:pt x="28420" y="0"/>
                </a:cubicBezTo>
                <a:close/>
              </a:path>
            </a:pathLst>
          </a:custGeom>
          <a:blipFill rotWithShape="0">
            <a:blip r:embed="rId1"/>
            <a:srcRect/>
            <a:stretch/>
          </a:blipFill>
          <a:ln cap="sq" w="1905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Google Shape;137;p3"/>
          <p:cNvSpPr/>
          <p:nvPr/>
        </p:nvSpPr>
        <p:spPr>
          <a:xfrm>
            <a:off x="6419880" y="3352680"/>
            <a:ext cx="5447880" cy="3580920"/>
          </a:xfrm>
          <a:custGeom>
            <a:avLst/>
            <a:gdLst>
              <a:gd name="textAreaLeft" fmla="*/ 0 w 5447880"/>
              <a:gd name="textAreaRight" fmla="*/ 5448240 w 5447880"/>
              <a:gd name="textAreaTop" fmla="*/ 0 h 3580920"/>
              <a:gd name="textAreaBottom" fmla="*/ 3581280 h 3580920"/>
            </a:gdLst>
            <a:ahLst/>
            <a:rect l="textAreaLeft" t="textAreaTop" r="textAreaRight" b="textAreaBottom"/>
            <a:pathLst>
              <a:path w="1631088" h="1072184">
                <a:moveTo>
                  <a:pt x="28420" y="0"/>
                </a:moveTo>
                <a:lnTo>
                  <a:pt x="1602669" y="0"/>
                </a:lnTo>
                <a:cubicBezTo>
                  <a:pt x="1618365" y="0"/>
                  <a:pt x="1631088" y="12724"/>
                  <a:pt x="1631088" y="28420"/>
                </a:cubicBezTo>
                <a:lnTo>
                  <a:pt x="1631088" y="1043764"/>
                </a:lnTo>
                <a:cubicBezTo>
                  <a:pt x="1631088" y="1059460"/>
                  <a:pt x="1618365" y="1072184"/>
                  <a:pt x="1602669" y="1072184"/>
                </a:cubicBezTo>
                <a:lnTo>
                  <a:pt x="28420" y="1072184"/>
                </a:lnTo>
                <a:cubicBezTo>
                  <a:pt x="12724" y="1072184"/>
                  <a:pt x="0" y="1059460"/>
                  <a:pt x="0" y="1043764"/>
                </a:cubicBezTo>
                <a:lnTo>
                  <a:pt x="0" y="28420"/>
                </a:lnTo>
                <a:cubicBezTo>
                  <a:pt x="0" y="12724"/>
                  <a:pt x="12724" y="0"/>
                  <a:pt x="28420" y="0"/>
                </a:cubicBezTo>
                <a:close/>
              </a:path>
            </a:pathLst>
          </a:custGeom>
          <a:blipFill rotWithShape="0">
            <a:blip r:embed="rId2"/>
            <a:srcRect/>
            <a:stretch/>
          </a:blipFill>
          <a:ln cap="sq" w="1905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Google Shape;138;p3"/>
          <p:cNvSpPr/>
          <p:nvPr/>
        </p:nvSpPr>
        <p:spPr>
          <a:xfrm>
            <a:off x="12173040" y="3352680"/>
            <a:ext cx="5447880" cy="3580920"/>
          </a:xfrm>
          <a:custGeom>
            <a:avLst/>
            <a:gdLst>
              <a:gd name="textAreaLeft" fmla="*/ 0 w 5447880"/>
              <a:gd name="textAreaRight" fmla="*/ 5448240 w 5447880"/>
              <a:gd name="textAreaTop" fmla="*/ 0 h 3580920"/>
              <a:gd name="textAreaBottom" fmla="*/ 3581280 h 3580920"/>
            </a:gdLst>
            <a:ahLst/>
            <a:rect l="textAreaLeft" t="textAreaTop" r="textAreaRight" b="textAreaBottom"/>
            <a:pathLst>
              <a:path w="1631088" h="1072184">
                <a:moveTo>
                  <a:pt x="28420" y="0"/>
                </a:moveTo>
                <a:lnTo>
                  <a:pt x="1602669" y="0"/>
                </a:lnTo>
                <a:cubicBezTo>
                  <a:pt x="1618365" y="0"/>
                  <a:pt x="1631088" y="12724"/>
                  <a:pt x="1631088" y="28420"/>
                </a:cubicBezTo>
                <a:lnTo>
                  <a:pt x="1631088" y="1043764"/>
                </a:lnTo>
                <a:cubicBezTo>
                  <a:pt x="1631088" y="1059460"/>
                  <a:pt x="1618365" y="1072184"/>
                  <a:pt x="1602669" y="1072184"/>
                </a:cubicBezTo>
                <a:lnTo>
                  <a:pt x="28420" y="1072184"/>
                </a:lnTo>
                <a:cubicBezTo>
                  <a:pt x="12724" y="1072184"/>
                  <a:pt x="0" y="1059460"/>
                  <a:pt x="0" y="1043764"/>
                </a:cubicBezTo>
                <a:lnTo>
                  <a:pt x="0" y="28420"/>
                </a:lnTo>
                <a:cubicBezTo>
                  <a:pt x="0" y="12724"/>
                  <a:pt x="12724" y="0"/>
                  <a:pt x="28420" y="0"/>
                </a:cubicBezTo>
                <a:close/>
              </a:path>
            </a:pathLst>
          </a:custGeom>
          <a:blipFill rotWithShape="0">
            <a:blip r:embed="rId3"/>
            <a:srcRect/>
            <a:stretch/>
          </a:blipFill>
          <a:ln cap="sq" w="1905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307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43;p4"/>
          <p:cNvSpPr/>
          <p:nvPr/>
        </p:nvSpPr>
        <p:spPr>
          <a:xfrm>
            <a:off x="666720" y="800280"/>
            <a:ext cx="5987520" cy="140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1" lang="en-IN" sz="3600" spc="-1" strike="noStrike">
                <a:solidFill>
                  <a:srgbClr val="b0afd3"/>
                </a:solidFill>
                <a:latin typeface="Arial"/>
                <a:ea typeface="Arial"/>
              </a:rPr>
              <a:t>Challenges Facing Enterprise Cybersecurity</a:t>
            </a:r>
            <a:endParaRPr b="0" lang="en-IN" sz="36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115" name="Google Shape;144;p4"/>
          <p:cNvGrpSpPr/>
          <p:nvPr/>
        </p:nvGrpSpPr>
        <p:grpSpPr>
          <a:xfrm>
            <a:off x="7858440" y="1519920"/>
            <a:ext cx="854280" cy="415440"/>
            <a:chOff x="7858440" y="1519920"/>
            <a:chExt cx="854280" cy="415440"/>
          </a:xfrm>
        </p:grpSpPr>
        <p:sp>
          <p:nvSpPr>
            <p:cNvPr id="116" name="Google Shape;145;p4"/>
            <p:cNvSpPr/>
            <p:nvPr/>
          </p:nvSpPr>
          <p:spPr>
            <a:xfrm>
              <a:off x="7858440" y="1562040"/>
              <a:ext cx="854280" cy="372960"/>
            </a:xfrm>
            <a:custGeom>
              <a:avLst/>
              <a:gdLst>
                <a:gd name="textAreaLeft" fmla="*/ 0 w 854280"/>
                <a:gd name="textAreaRight" fmla="*/ 854640 w 854280"/>
                <a:gd name="textAreaTop" fmla="*/ 0 h 372960"/>
                <a:gd name="textAreaBottom" fmla="*/ 373320 h 372960"/>
              </a:gdLst>
              <a:ahLst/>
              <a:rect l="textAreaLeft" t="textAreaTop" r="textAreaRight" b="textAreaBottom"/>
              <a:pathLst>
                <a:path w="769424" h="336039">
                  <a:moveTo>
                    <a:pt x="566224" y="0"/>
                  </a:moveTo>
                  <a:cubicBezTo>
                    <a:pt x="678448" y="0"/>
                    <a:pt x="769424" y="75225"/>
                    <a:pt x="769424" y="168020"/>
                  </a:cubicBezTo>
                  <a:cubicBezTo>
                    <a:pt x="769424" y="260814"/>
                    <a:pt x="678448" y="336039"/>
                    <a:pt x="566224" y="336039"/>
                  </a:cubicBezTo>
                  <a:lnTo>
                    <a:pt x="203200" y="336039"/>
                  </a:lnTo>
                  <a:cubicBezTo>
                    <a:pt x="90976" y="336039"/>
                    <a:pt x="0" y="260814"/>
                    <a:pt x="0" y="168020"/>
                  </a:cubicBezTo>
                  <a:cubicBezTo>
                    <a:pt x="0" y="7522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30733"/>
            </a:solidFill>
            <a:ln cap="sq" w="19050">
              <a:solidFill>
                <a:srgbClr val="2bca81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45720" rIns="45720" tIns="45000" bIns="45000" anchor="ctr">
              <a:noAutofit/>
            </a:bodyPr>
            <a:p>
              <a:pPr>
                <a:lnSpc>
                  <a:spcPct val="120000"/>
                </a:lnSpc>
                <a:tabLst>
                  <a:tab algn="l" pos="0"/>
                </a:tabLst>
              </a:pPr>
              <a:endParaRPr b="0" lang="en-IN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17" name="Google Shape;146;p4"/>
            <p:cNvSpPr/>
            <p:nvPr/>
          </p:nvSpPr>
          <p:spPr>
            <a:xfrm>
              <a:off x="7858440" y="1519920"/>
              <a:ext cx="854280" cy="415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5720" rIns="45720" tIns="45000" bIns="45000" anchor="ctr">
              <a:noAutofit/>
            </a:bodyPr>
            <a:p>
              <a:pPr algn="ctr">
                <a:lnSpc>
                  <a:spcPct val="120000"/>
                </a:lnSpc>
                <a:tabLst>
                  <a:tab algn="l" pos="0"/>
                </a:tabLst>
              </a:pPr>
              <a:endParaRPr b="0" lang="en-IN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18" name="Google Shape;147;p4"/>
          <p:cNvGrpSpPr/>
          <p:nvPr/>
        </p:nvGrpSpPr>
        <p:grpSpPr>
          <a:xfrm>
            <a:off x="12872520" y="5996520"/>
            <a:ext cx="854280" cy="415440"/>
            <a:chOff x="12872520" y="5996520"/>
            <a:chExt cx="854280" cy="415440"/>
          </a:xfrm>
        </p:grpSpPr>
        <p:sp>
          <p:nvSpPr>
            <p:cNvPr id="119" name="Google Shape;148;p4"/>
            <p:cNvSpPr/>
            <p:nvPr/>
          </p:nvSpPr>
          <p:spPr>
            <a:xfrm>
              <a:off x="12872520" y="6039000"/>
              <a:ext cx="854280" cy="372960"/>
            </a:xfrm>
            <a:custGeom>
              <a:avLst/>
              <a:gdLst>
                <a:gd name="textAreaLeft" fmla="*/ 0 w 854280"/>
                <a:gd name="textAreaRight" fmla="*/ 854640 w 854280"/>
                <a:gd name="textAreaTop" fmla="*/ 0 h 372960"/>
                <a:gd name="textAreaBottom" fmla="*/ 373320 h 372960"/>
              </a:gdLst>
              <a:ahLst/>
              <a:rect l="textAreaLeft" t="textAreaTop" r="textAreaRight" b="textAreaBottom"/>
              <a:pathLst>
                <a:path w="769424" h="336039">
                  <a:moveTo>
                    <a:pt x="566224" y="0"/>
                  </a:moveTo>
                  <a:cubicBezTo>
                    <a:pt x="678448" y="0"/>
                    <a:pt x="769424" y="75225"/>
                    <a:pt x="769424" y="168020"/>
                  </a:cubicBezTo>
                  <a:cubicBezTo>
                    <a:pt x="769424" y="260814"/>
                    <a:pt x="678448" y="336039"/>
                    <a:pt x="566224" y="336039"/>
                  </a:cubicBezTo>
                  <a:lnTo>
                    <a:pt x="203200" y="336039"/>
                  </a:lnTo>
                  <a:cubicBezTo>
                    <a:pt x="90976" y="336039"/>
                    <a:pt x="0" y="260814"/>
                    <a:pt x="0" y="168020"/>
                  </a:cubicBezTo>
                  <a:cubicBezTo>
                    <a:pt x="0" y="7522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30733"/>
            </a:solidFill>
            <a:ln cap="sq" w="19050">
              <a:solidFill>
                <a:srgbClr val="2bca81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45720" rIns="45720" tIns="45000" bIns="45000" anchor="ctr">
              <a:noAutofit/>
            </a:bodyPr>
            <a:p>
              <a:pPr>
                <a:lnSpc>
                  <a:spcPct val="120000"/>
                </a:lnSpc>
                <a:tabLst>
                  <a:tab algn="l" pos="0"/>
                </a:tabLst>
              </a:pPr>
              <a:endParaRPr b="0" lang="en-IN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0" name="Google Shape;149;p4"/>
            <p:cNvSpPr/>
            <p:nvPr/>
          </p:nvSpPr>
          <p:spPr>
            <a:xfrm>
              <a:off x="12872520" y="5996520"/>
              <a:ext cx="854280" cy="415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5720" rIns="45720" tIns="45000" bIns="45000" anchor="ctr">
              <a:noAutofit/>
            </a:bodyPr>
            <a:p>
              <a:pPr algn="ctr">
                <a:lnSpc>
                  <a:spcPct val="120000"/>
                </a:lnSpc>
                <a:tabLst>
                  <a:tab algn="l" pos="0"/>
                </a:tabLst>
              </a:pPr>
              <a:endParaRPr b="0" lang="en-IN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21" name="Google Shape;150;p4"/>
          <p:cNvGrpSpPr/>
          <p:nvPr/>
        </p:nvGrpSpPr>
        <p:grpSpPr>
          <a:xfrm>
            <a:off x="7858440" y="5996520"/>
            <a:ext cx="854280" cy="415440"/>
            <a:chOff x="7858440" y="5996520"/>
            <a:chExt cx="854280" cy="415440"/>
          </a:xfrm>
        </p:grpSpPr>
        <p:sp>
          <p:nvSpPr>
            <p:cNvPr id="122" name="Google Shape;151;p4"/>
            <p:cNvSpPr/>
            <p:nvPr/>
          </p:nvSpPr>
          <p:spPr>
            <a:xfrm>
              <a:off x="7858440" y="6039000"/>
              <a:ext cx="854280" cy="372960"/>
            </a:xfrm>
            <a:custGeom>
              <a:avLst/>
              <a:gdLst>
                <a:gd name="textAreaLeft" fmla="*/ 0 w 854280"/>
                <a:gd name="textAreaRight" fmla="*/ 854640 w 854280"/>
                <a:gd name="textAreaTop" fmla="*/ 0 h 372960"/>
                <a:gd name="textAreaBottom" fmla="*/ 373320 h 372960"/>
              </a:gdLst>
              <a:ahLst/>
              <a:rect l="textAreaLeft" t="textAreaTop" r="textAreaRight" b="textAreaBottom"/>
              <a:pathLst>
                <a:path w="769424" h="336039">
                  <a:moveTo>
                    <a:pt x="566224" y="0"/>
                  </a:moveTo>
                  <a:cubicBezTo>
                    <a:pt x="678448" y="0"/>
                    <a:pt x="769424" y="75225"/>
                    <a:pt x="769424" y="168020"/>
                  </a:cubicBezTo>
                  <a:cubicBezTo>
                    <a:pt x="769424" y="260814"/>
                    <a:pt x="678448" y="336039"/>
                    <a:pt x="566224" y="336039"/>
                  </a:cubicBezTo>
                  <a:lnTo>
                    <a:pt x="203200" y="336039"/>
                  </a:lnTo>
                  <a:cubicBezTo>
                    <a:pt x="90976" y="336039"/>
                    <a:pt x="0" y="260814"/>
                    <a:pt x="0" y="168020"/>
                  </a:cubicBezTo>
                  <a:cubicBezTo>
                    <a:pt x="0" y="7522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30733"/>
            </a:solidFill>
            <a:ln cap="sq" w="19050">
              <a:solidFill>
                <a:srgbClr val="2bca81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45720" rIns="45720" tIns="45000" bIns="45000" anchor="ctr">
              <a:noAutofit/>
            </a:bodyPr>
            <a:p>
              <a:pPr>
                <a:lnSpc>
                  <a:spcPct val="120000"/>
                </a:lnSpc>
                <a:tabLst>
                  <a:tab algn="l" pos="0"/>
                </a:tabLst>
              </a:pPr>
              <a:endParaRPr b="0" lang="en-IN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3" name="Google Shape;152;p4"/>
            <p:cNvSpPr/>
            <p:nvPr/>
          </p:nvSpPr>
          <p:spPr>
            <a:xfrm>
              <a:off x="7858440" y="5996520"/>
              <a:ext cx="854280" cy="415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5720" rIns="45720" tIns="45000" bIns="45000" anchor="ctr">
              <a:noAutofit/>
            </a:bodyPr>
            <a:p>
              <a:pPr algn="ctr">
                <a:lnSpc>
                  <a:spcPct val="120000"/>
                </a:lnSpc>
                <a:tabLst>
                  <a:tab algn="l" pos="0"/>
                </a:tabLst>
              </a:pPr>
              <a:endParaRPr b="0" lang="en-IN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24" name="Google Shape;153;p4"/>
          <p:cNvGrpSpPr/>
          <p:nvPr/>
        </p:nvGrpSpPr>
        <p:grpSpPr>
          <a:xfrm>
            <a:off x="12872520" y="1519920"/>
            <a:ext cx="854280" cy="415440"/>
            <a:chOff x="12872520" y="1519920"/>
            <a:chExt cx="854280" cy="415440"/>
          </a:xfrm>
        </p:grpSpPr>
        <p:sp>
          <p:nvSpPr>
            <p:cNvPr id="125" name="Google Shape;154;p4"/>
            <p:cNvSpPr/>
            <p:nvPr/>
          </p:nvSpPr>
          <p:spPr>
            <a:xfrm>
              <a:off x="12872520" y="1562040"/>
              <a:ext cx="854280" cy="372960"/>
            </a:xfrm>
            <a:custGeom>
              <a:avLst/>
              <a:gdLst>
                <a:gd name="textAreaLeft" fmla="*/ 0 w 854280"/>
                <a:gd name="textAreaRight" fmla="*/ 854640 w 854280"/>
                <a:gd name="textAreaTop" fmla="*/ 0 h 372960"/>
                <a:gd name="textAreaBottom" fmla="*/ 373320 h 372960"/>
              </a:gdLst>
              <a:ahLst/>
              <a:rect l="textAreaLeft" t="textAreaTop" r="textAreaRight" b="textAreaBottom"/>
              <a:pathLst>
                <a:path w="769424" h="336039">
                  <a:moveTo>
                    <a:pt x="566224" y="0"/>
                  </a:moveTo>
                  <a:cubicBezTo>
                    <a:pt x="678448" y="0"/>
                    <a:pt x="769424" y="75225"/>
                    <a:pt x="769424" y="168020"/>
                  </a:cubicBezTo>
                  <a:cubicBezTo>
                    <a:pt x="769424" y="260814"/>
                    <a:pt x="678448" y="336039"/>
                    <a:pt x="566224" y="336039"/>
                  </a:cubicBezTo>
                  <a:lnTo>
                    <a:pt x="203200" y="336039"/>
                  </a:lnTo>
                  <a:cubicBezTo>
                    <a:pt x="90976" y="336039"/>
                    <a:pt x="0" y="260814"/>
                    <a:pt x="0" y="168020"/>
                  </a:cubicBezTo>
                  <a:cubicBezTo>
                    <a:pt x="0" y="7522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30733"/>
            </a:solidFill>
            <a:ln cap="sq" w="19050">
              <a:solidFill>
                <a:srgbClr val="2bca81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45720" rIns="45720" tIns="45000" bIns="45000" anchor="ctr">
              <a:noAutofit/>
            </a:bodyPr>
            <a:p>
              <a:pPr>
                <a:lnSpc>
                  <a:spcPct val="120000"/>
                </a:lnSpc>
                <a:tabLst>
                  <a:tab algn="l" pos="0"/>
                </a:tabLst>
              </a:pPr>
              <a:endParaRPr b="0" lang="en-IN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6" name="Google Shape;155;p4"/>
            <p:cNvSpPr/>
            <p:nvPr/>
          </p:nvSpPr>
          <p:spPr>
            <a:xfrm>
              <a:off x="12872520" y="1519920"/>
              <a:ext cx="854280" cy="415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5720" rIns="45720" tIns="45000" bIns="45000" anchor="ctr">
              <a:noAutofit/>
            </a:bodyPr>
            <a:p>
              <a:pPr algn="ctr">
                <a:lnSpc>
                  <a:spcPct val="120000"/>
                </a:lnSpc>
                <a:tabLst>
                  <a:tab algn="l" pos="0"/>
                </a:tabLst>
              </a:pPr>
              <a:endParaRPr b="0" lang="en-IN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27" name="Google Shape;156;p4"/>
          <p:cNvGrpSpPr/>
          <p:nvPr/>
        </p:nvGrpSpPr>
        <p:grpSpPr>
          <a:xfrm>
            <a:off x="12872520" y="2288160"/>
            <a:ext cx="4748400" cy="1402920"/>
            <a:chOff x="12872520" y="2288160"/>
            <a:chExt cx="4748400" cy="1402920"/>
          </a:xfrm>
        </p:grpSpPr>
        <p:sp>
          <p:nvSpPr>
            <p:cNvPr id="128" name="Google Shape;157;p4"/>
            <p:cNvSpPr/>
            <p:nvPr/>
          </p:nvSpPr>
          <p:spPr>
            <a:xfrm>
              <a:off x="12872520" y="2288160"/>
              <a:ext cx="4748400" cy="418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5720" rIns="45720" tIns="45000" bIns="45000" anchor="t">
              <a:spAutoFit/>
            </a:bodyPr>
            <a:p>
              <a:pPr>
                <a:lnSpc>
                  <a:spcPct val="120000"/>
                </a:lnSpc>
                <a:tabLst>
                  <a:tab algn="l" pos="0"/>
                </a:tabLst>
              </a:pPr>
              <a:r>
                <a:rPr b="1" lang="en-IN" sz="1800" spc="-1" strike="noStrike">
                  <a:solidFill>
                    <a:srgbClr val="b0afd3"/>
                  </a:solidFill>
                  <a:latin typeface="Arial"/>
                  <a:ea typeface="Arial"/>
                </a:rPr>
                <a:t>Silent Insider Threats</a:t>
              </a: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9" name="Google Shape;158;p4"/>
            <p:cNvSpPr/>
            <p:nvPr/>
          </p:nvSpPr>
          <p:spPr>
            <a:xfrm>
              <a:off x="12872520" y="2833560"/>
              <a:ext cx="4748400" cy="857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5720" rIns="45720" tIns="45000" bIns="45000" anchor="t">
              <a:spAutoFit/>
            </a:bodyPr>
            <a:p>
              <a:pPr>
                <a:lnSpc>
                  <a:spcPct val="120000"/>
                </a:lnSpc>
                <a:tabLst>
                  <a:tab algn="l" pos="0"/>
                </a:tabLst>
              </a:pPr>
              <a:r>
                <a:rPr b="0" lang="en-IN" sz="1400" spc="-1" strike="noStrike">
                  <a:solidFill>
                    <a:srgbClr val="b0afd3"/>
                  </a:solidFill>
                  <a:latin typeface="Arial"/>
                  <a:ea typeface="Arial"/>
                </a:rPr>
                <a:t>Traditional SIEM tools miss low-and-slow anomalous behavior from authenticated internal users, leaving critical blind spots in enterprise defenses.</a:t>
              </a:r>
              <a:endParaRPr b="0" lang="en-IN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30" name="Google Shape;159;p4"/>
          <p:cNvGrpSpPr/>
          <p:nvPr/>
        </p:nvGrpSpPr>
        <p:grpSpPr>
          <a:xfrm>
            <a:off x="7858080" y="2288160"/>
            <a:ext cx="4748400" cy="1463400"/>
            <a:chOff x="7858080" y="2288160"/>
            <a:chExt cx="4748400" cy="1463400"/>
          </a:xfrm>
        </p:grpSpPr>
        <p:sp>
          <p:nvSpPr>
            <p:cNvPr id="131" name="Google Shape;160;p4"/>
            <p:cNvSpPr/>
            <p:nvPr/>
          </p:nvSpPr>
          <p:spPr>
            <a:xfrm>
              <a:off x="7858080" y="2288160"/>
              <a:ext cx="4748400" cy="418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5720" rIns="45720" tIns="45000" bIns="45000" anchor="t">
              <a:spAutoFit/>
            </a:bodyPr>
            <a:p>
              <a:pPr>
                <a:lnSpc>
                  <a:spcPct val="120000"/>
                </a:lnSpc>
                <a:tabLst>
                  <a:tab algn="l" pos="0"/>
                </a:tabLst>
              </a:pPr>
              <a:r>
                <a:rPr b="1" lang="en-IN" sz="1800" spc="-1" strike="noStrike">
                  <a:solidFill>
                    <a:srgbClr val="b0afd3"/>
                  </a:solidFill>
                  <a:latin typeface="Arial"/>
                  <a:ea typeface="Arial"/>
                </a:rPr>
                <a:t>High False Positive Rates</a:t>
              </a: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2" name="Google Shape;161;p4"/>
            <p:cNvSpPr/>
            <p:nvPr/>
          </p:nvSpPr>
          <p:spPr>
            <a:xfrm>
              <a:off x="7858080" y="2894040"/>
              <a:ext cx="4748400" cy="857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5720" rIns="45720" tIns="45000" bIns="45000" anchor="t">
              <a:spAutoFit/>
            </a:bodyPr>
            <a:p>
              <a:pPr>
                <a:lnSpc>
                  <a:spcPct val="120000"/>
                </a:lnSpc>
                <a:tabLst>
                  <a:tab algn="l" pos="0"/>
                </a:tabLst>
              </a:pPr>
              <a:r>
                <a:rPr b="0" lang="en-IN" sz="1400" spc="-1" strike="noStrike">
                  <a:solidFill>
                    <a:srgbClr val="b0afd3"/>
                  </a:solidFill>
                  <a:latin typeface="Arial"/>
                  <a:ea typeface="Arial"/>
                </a:rPr>
                <a:t>Security operation centers are overwhelmed by thousands of static rule alerts lacking context, causing analyst fatigue and missed incidents.</a:t>
              </a:r>
              <a:endParaRPr b="0" lang="en-IN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33" name="Google Shape;162;p4"/>
          <p:cNvGrpSpPr/>
          <p:nvPr/>
        </p:nvGrpSpPr>
        <p:grpSpPr>
          <a:xfrm>
            <a:off x="7858080" y="6672960"/>
            <a:ext cx="4748400" cy="1402920"/>
            <a:chOff x="7858080" y="6672960"/>
            <a:chExt cx="4748400" cy="1402920"/>
          </a:xfrm>
        </p:grpSpPr>
        <p:sp>
          <p:nvSpPr>
            <p:cNvPr id="134" name="Google Shape;163;p4"/>
            <p:cNvSpPr/>
            <p:nvPr/>
          </p:nvSpPr>
          <p:spPr>
            <a:xfrm>
              <a:off x="7858080" y="6672960"/>
              <a:ext cx="4748400" cy="418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5720" rIns="45720" tIns="45000" bIns="45000" anchor="t">
              <a:spAutoFit/>
            </a:bodyPr>
            <a:p>
              <a:pPr>
                <a:lnSpc>
                  <a:spcPct val="120000"/>
                </a:lnSpc>
                <a:tabLst>
                  <a:tab algn="l" pos="0"/>
                </a:tabLst>
              </a:pPr>
              <a:r>
                <a:rPr b="1" lang="en-IN" sz="1800" spc="-1" strike="noStrike">
                  <a:solidFill>
                    <a:srgbClr val="b0afd3"/>
                  </a:solidFill>
                  <a:latin typeface="Arial"/>
                  <a:ea typeface="Arial"/>
                </a:rPr>
                <a:t>Lack of Behavioral Baselines</a:t>
              </a: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5" name="Google Shape;164;p4"/>
            <p:cNvSpPr/>
            <p:nvPr/>
          </p:nvSpPr>
          <p:spPr>
            <a:xfrm>
              <a:off x="7858080" y="7218360"/>
              <a:ext cx="4748400" cy="857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5720" rIns="45720" tIns="45000" bIns="45000" anchor="t">
              <a:spAutoFit/>
            </a:bodyPr>
            <a:p>
              <a:pPr>
                <a:lnSpc>
                  <a:spcPct val="120000"/>
                </a:lnSpc>
                <a:tabLst>
                  <a:tab algn="l" pos="0"/>
                </a:tabLst>
              </a:pPr>
              <a:r>
                <a:rPr b="0" lang="en-IN" sz="1400" spc="-1" strike="noStrike">
                  <a:solidFill>
                    <a:srgbClr val="b0afd3"/>
                  </a:solidFill>
                  <a:latin typeface="Arial"/>
                  <a:ea typeface="Arial"/>
                </a:rPr>
                <a:t>Without automated baseline profiling for individual users and department peer groups, detecting subtle behavioral deviations is nearly impossible.</a:t>
              </a:r>
              <a:endParaRPr b="0" lang="en-IN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36" name="Google Shape;165;p4"/>
          <p:cNvGrpSpPr/>
          <p:nvPr/>
        </p:nvGrpSpPr>
        <p:grpSpPr>
          <a:xfrm>
            <a:off x="12981240" y="6672960"/>
            <a:ext cx="5987520" cy="1467720"/>
            <a:chOff x="12981240" y="6672960"/>
            <a:chExt cx="5987520" cy="1467720"/>
          </a:xfrm>
        </p:grpSpPr>
        <p:sp>
          <p:nvSpPr>
            <p:cNvPr id="137" name="Google Shape;166;p4"/>
            <p:cNvSpPr/>
            <p:nvPr/>
          </p:nvSpPr>
          <p:spPr>
            <a:xfrm>
              <a:off x="12981240" y="6672960"/>
              <a:ext cx="5987520" cy="418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5720" rIns="45720" tIns="45000" bIns="45000" anchor="t">
              <a:spAutoFit/>
            </a:bodyPr>
            <a:p>
              <a:pPr>
                <a:lnSpc>
                  <a:spcPct val="120000"/>
                </a:lnSpc>
                <a:tabLst>
                  <a:tab algn="l" pos="0"/>
                </a:tabLst>
              </a:pPr>
              <a:r>
                <a:rPr b="1" lang="en-IN" sz="1800" spc="-1" strike="noStrike">
                  <a:solidFill>
                    <a:srgbClr val="b0afd3"/>
                  </a:solidFill>
                  <a:latin typeface="Arial"/>
                  <a:ea typeface="Arial"/>
                </a:rPr>
                <a:t>Automated UEBA Protection</a:t>
              </a: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8" name="Google Shape;167;p4"/>
            <p:cNvSpPr/>
            <p:nvPr/>
          </p:nvSpPr>
          <p:spPr>
            <a:xfrm>
              <a:off x="12981240" y="7283160"/>
              <a:ext cx="4748400" cy="857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5720" rIns="45720" tIns="45000" bIns="45000" anchor="t">
              <a:spAutoFit/>
            </a:bodyPr>
            <a:p>
              <a:pPr>
                <a:lnSpc>
                  <a:spcPct val="120000"/>
                </a:lnSpc>
                <a:tabLst>
                  <a:tab algn="l" pos="0"/>
                </a:tabLst>
              </a:pPr>
              <a:r>
                <a:rPr b="0" lang="en-IN" sz="1400" spc="-1" strike="noStrike">
                  <a:solidFill>
                    <a:srgbClr val="b0afd3"/>
                  </a:solidFill>
                  <a:latin typeface="Arial"/>
                  <a:ea typeface="Arial"/>
                </a:rPr>
                <a:t>Deploying an intelligent UEBA system enables continuous baseline tracking, contextual risk scoring, and automated threat mitigation.</a:t>
              </a:r>
              <a:endParaRPr b="0" lang="en-IN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39" name="Google Shape;168;p4"/>
          <p:cNvGrpSpPr/>
          <p:nvPr/>
        </p:nvGrpSpPr>
        <p:grpSpPr>
          <a:xfrm>
            <a:off x="-1034640" y="6996240"/>
            <a:ext cx="3453840" cy="4601160"/>
            <a:chOff x="-1034640" y="6996240"/>
            <a:chExt cx="3453840" cy="4601160"/>
          </a:xfrm>
        </p:grpSpPr>
        <p:grpSp>
          <p:nvGrpSpPr>
            <p:cNvPr id="140" name="Google Shape;169;p4"/>
            <p:cNvGrpSpPr/>
            <p:nvPr/>
          </p:nvGrpSpPr>
          <p:grpSpPr>
            <a:xfrm>
              <a:off x="-883440" y="6996240"/>
              <a:ext cx="3302640" cy="3302640"/>
              <a:chOff x="-883440" y="6996240"/>
              <a:chExt cx="3302640" cy="3302640"/>
            </a:xfrm>
          </p:grpSpPr>
          <p:sp>
            <p:nvSpPr>
              <p:cNvPr id="141" name="Google Shape;170;p4"/>
              <p:cNvSpPr/>
              <p:nvPr/>
            </p:nvSpPr>
            <p:spPr>
              <a:xfrm rot="8100000">
                <a:off x="-923040" y="7988040"/>
                <a:ext cx="3331080" cy="1267920"/>
              </a:xfrm>
              <a:custGeom>
                <a:avLst/>
                <a:gdLst>
                  <a:gd name="textAreaLeft" fmla="*/ 0 w 3331080"/>
                  <a:gd name="textAreaRight" fmla="*/ 3331440 w 3331080"/>
                  <a:gd name="textAreaTop" fmla="*/ 0 h 1267920"/>
                  <a:gd name="textAreaBottom" fmla="*/ 1268280 h 1267920"/>
                </a:gdLst>
                <a:ahLst/>
                <a:rect l="textAreaLeft" t="textAreaTop" r="textAreaRight" b="textAreaBottom"/>
                <a:pathLst>
                  <a:path w="882773" h="336039">
                    <a:moveTo>
                      <a:pt x="679573" y="0"/>
                    </a:moveTo>
                    <a:cubicBezTo>
                      <a:pt x="791798" y="0"/>
                      <a:pt x="882773" y="75225"/>
                      <a:pt x="882773" y="168020"/>
                    </a:cubicBezTo>
                    <a:cubicBezTo>
                      <a:pt x="882773" y="260814"/>
                      <a:pt x="791798" y="336039"/>
                      <a:pt x="679573" y="336039"/>
                    </a:cubicBezTo>
                    <a:lnTo>
                      <a:pt x="203200" y="336039"/>
                    </a:lnTo>
                    <a:cubicBezTo>
                      <a:pt x="90976" y="336039"/>
                      <a:pt x="0" y="260814"/>
                      <a:pt x="0" y="168020"/>
                    </a:cubicBezTo>
                    <a:cubicBezTo>
                      <a:pt x="0" y="75225"/>
                      <a:pt x="90976" y="0"/>
                      <a:pt x="203200" y="0"/>
                    </a:cubicBezTo>
                    <a:close/>
                  </a:path>
                </a:pathLst>
              </a:custGeom>
              <a:noFill/>
              <a:ln cap="sq" w="19050">
                <a:solidFill>
                  <a:srgbClr val="2bca81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5720" rIns="45720" tIns="45000" bIns="45000" anchor="ctr">
                <a:noAutofit/>
              </a:bodyPr>
              <a:p>
                <a:pPr>
                  <a:lnSpc>
                    <a:spcPct val="120000"/>
                  </a:lnSpc>
                  <a:tabLst>
                    <a:tab algn="l" pos="0"/>
                  </a:tabLst>
                </a:pPr>
                <a:endParaRPr b="0" lang="en-IN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142" name="Google Shape;171;p4"/>
              <p:cNvSpPr/>
              <p:nvPr/>
            </p:nvSpPr>
            <p:spPr>
              <a:xfrm rot="8100000">
                <a:off x="-897480" y="7977600"/>
                <a:ext cx="3331080" cy="13395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5720" rIns="45720" tIns="45000" bIns="45000" anchor="ctr">
                <a:noAutofit/>
              </a:bodyPr>
              <a:p>
                <a:pPr algn="ctr">
                  <a:lnSpc>
                    <a:spcPct val="120000"/>
                  </a:lnSpc>
                  <a:tabLst>
                    <a:tab algn="l" pos="0"/>
                  </a:tabLst>
                </a:pPr>
                <a:endParaRPr b="0" lang="en-IN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143" name="Google Shape;172;p4"/>
            <p:cNvGrpSpPr/>
            <p:nvPr/>
          </p:nvGrpSpPr>
          <p:grpSpPr>
            <a:xfrm>
              <a:off x="-1034640" y="8246880"/>
              <a:ext cx="3350520" cy="3350520"/>
              <a:chOff x="-1034640" y="8246880"/>
              <a:chExt cx="3350520" cy="3350520"/>
            </a:xfrm>
          </p:grpSpPr>
          <p:sp>
            <p:nvSpPr>
              <p:cNvPr id="144" name="Google Shape;173;p4"/>
              <p:cNvSpPr/>
              <p:nvPr/>
            </p:nvSpPr>
            <p:spPr>
              <a:xfrm rot="8100000">
                <a:off x="-1074240" y="9245520"/>
                <a:ext cx="3353400" cy="1276200"/>
              </a:xfrm>
              <a:custGeom>
                <a:avLst/>
                <a:gdLst>
                  <a:gd name="textAreaLeft" fmla="*/ 0 w 3353400"/>
                  <a:gd name="textAreaRight" fmla="*/ 3353760 w 3353400"/>
                  <a:gd name="textAreaTop" fmla="*/ 0 h 1276200"/>
                  <a:gd name="textAreaBottom" fmla="*/ 1276560 h 1276200"/>
                </a:gdLst>
                <a:ahLst/>
                <a:rect l="textAreaLeft" t="textAreaTop" r="textAreaRight" b="textAreaBottom"/>
                <a:pathLst>
                  <a:path w="882773" h="336039">
                    <a:moveTo>
                      <a:pt x="679573" y="0"/>
                    </a:moveTo>
                    <a:cubicBezTo>
                      <a:pt x="791798" y="0"/>
                      <a:pt x="882773" y="75225"/>
                      <a:pt x="882773" y="168020"/>
                    </a:cubicBezTo>
                    <a:cubicBezTo>
                      <a:pt x="882773" y="260814"/>
                      <a:pt x="791798" y="336039"/>
                      <a:pt x="679573" y="336039"/>
                    </a:cubicBezTo>
                    <a:lnTo>
                      <a:pt x="203200" y="336039"/>
                    </a:lnTo>
                    <a:cubicBezTo>
                      <a:pt x="90976" y="336039"/>
                      <a:pt x="0" y="260814"/>
                      <a:pt x="0" y="168020"/>
                    </a:cubicBezTo>
                    <a:cubicBezTo>
                      <a:pt x="0" y="75225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b0afd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5720" rIns="45720" tIns="45000" bIns="45000" anchor="ctr">
                <a:noAutofit/>
              </a:bodyPr>
              <a:p>
                <a:pPr>
                  <a:lnSpc>
                    <a:spcPct val="120000"/>
                  </a:lnSpc>
                  <a:tabLst>
                    <a:tab algn="l" pos="0"/>
                  </a:tabLst>
                </a:pPr>
                <a:endParaRPr b="0" lang="en-IN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45" name="Google Shape;174;p4"/>
              <p:cNvSpPr/>
              <p:nvPr/>
            </p:nvSpPr>
            <p:spPr>
              <a:xfrm rot="8100000">
                <a:off x="-1035720" y="9229320"/>
                <a:ext cx="3353400" cy="13849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5720" rIns="45720" tIns="45000" bIns="45000" anchor="ctr">
                <a:noAutofit/>
              </a:bodyPr>
              <a:p>
                <a:pPr algn="ctr">
                  <a:lnSpc>
                    <a:spcPct val="120000"/>
                  </a:lnSpc>
                  <a:tabLst>
                    <a:tab algn="l" pos="0"/>
                  </a:tabLst>
                </a:pPr>
                <a:endParaRPr b="0" lang="en-IN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</p:grpSp>
      <p:sp>
        <p:nvSpPr>
          <p:cNvPr id="146" name="Google Shape;175;p4"/>
          <p:cNvSpPr/>
          <p:nvPr/>
        </p:nvSpPr>
        <p:spPr>
          <a:xfrm>
            <a:off x="13182480" y="6020640"/>
            <a:ext cx="21276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algn="ctr">
              <a:lnSpc>
                <a:spcPct val="12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b0afd3"/>
                </a:solidFill>
                <a:latin typeface="Arial"/>
                <a:ea typeface="Bricolage Grotesque"/>
              </a:rPr>
              <a:t>4</a:t>
            </a: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" name="Google Shape;176;p4"/>
          <p:cNvSpPr/>
          <p:nvPr/>
        </p:nvSpPr>
        <p:spPr>
          <a:xfrm>
            <a:off x="8182440" y="6002640"/>
            <a:ext cx="20628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algn="ctr">
              <a:lnSpc>
                <a:spcPct val="12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b0afd3"/>
                </a:solidFill>
                <a:latin typeface="Arial"/>
                <a:ea typeface="Bricolage Grotesque"/>
              </a:rPr>
              <a:t>3</a:t>
            </a: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" name="Google Shape;177;p4"/>
          <p:cNvSpPr/>
          <p:nvPr/>
        </p:nvSpPr>
        <p:spPr>
          <a:xfrm>
            <a:off x="13186440" y="1544040"/>
            <a:ext cx="20520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algn="ctr">
              <a:lnSpc>
                <a:spcPct val="12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b0afd3"/>
                </a:solidFill>
                <a:latin typeface="Arial"/>
                <a:ea typeface="Bricolage Grotesque"/>
              </a:rPr>
              <a:t>2</a:t>
            </a: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" name="Google Shape;178;p4"/>
          <p:cNvSpPr/>
          <p:nvPr/>
        </p:nvSpPr>
        <p:spPr>
          <a:xfrm>
            <a:off x="8227080" y="1544040"/>
            <a:ext cx="11700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algn="ctr">
              <a:lnSpc>
                <a:spcPct val="12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b0afd3"/>
                </a:solidFill>
                <a:latin typeface="Arial"/>
                <a:ea typeface="Bricolage Grotesque"/>
              </a:rPr>
              <a:t>1</a:t>
            </a: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307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0" name="Google Shape;183;p5"/>
          <p:cNvGrpSpPr/>
          <p:nvPr/>
        </p:nvGrpSpPr>
        <p:grpSpPr>
          <a:xfrm>
            <a:off x="128160" y="-1227240"/>
            <a:ext cx="3353400" cy="3353760"/>
            <a:chOff x="128160" y="-1227240"/>
            <a:chExt cx="3353400" cy="3353760"/>
          </a:xfrm>
        </p:grpSpPr>
        <p:sp>
          <p:nvSpPr>
            <p:cNvPr id="151" name="Google Shape;184;p5"/>
            <p:cNvSpPr/>
            <p:nvPr/>
          </p:nvSpPr>
          <p:spPr>
            <a:xfrm rot="8100000">
              <a:off x="88200" y="-234720"/>
              <a:ext cx="3331080" cy="1267920"/>
            </a:xfrm>
            <a:custGeom>
              <a:avLst/>
              <a:gdLst>
                <a:gd name="textAreaLeft" fmla="*/ 0 w 3331080"/>
                <a:gd name="textAreaRight" fmla="*/ 3331440 w 3331080"/>
                <a:gd name="textAreaTop" fmla="*/ 0 h 1267920"/>
                <a:gd name="textAreaBottom" fmla="*/ 1268280 h 1267920"/>
              </a:gdLst>
              <a:ahLst/>
              <a:rect l="textAreaLeft" t="textAreaTop" r="textAreaRight" b="textAreaBottom"/>
              <a:pathLst>
                <a:path w="882773" h="336039">
                  <a:moveTo>
                    <a:pt x="679573" y="0"/>
                  </a:moveTo>
                  <a:cubicBezTo>
                    <a:pt x="791798" y="0"/>
                    <a:pt x="882773" y="75225"/>
                    <a:pt x="882773" y="168020"/>
                  </a:cubicBezTo>
                  <a:cubicBezTo>
                    <a:pt x="882773" y="260814"/>
                    <a:pt x="791798" y="336039"/>
                    <a:pt x="679573" y="336039"/>
                  </a:cubicBezTo>
                  <a:lnTo>
                    <a:pt x="203200" y="336039"/>
                  </a:lnTo>
                  <a:cubicBezTo>
                    <a:pt x="90976" y="336039"/>
                    <a:pt x="0" y="260814"/>
                    <a:pt x="0" y="168020"/>
                  </a:cubicBezTo>
                  <a:cubicBezTo>
                    <a:pt x="0" y="75225"/>
                    <a:pt x="90976" y="0"/>
                    <a:pt x="203200" y="0"/>
                  </a:cubicBezTo>
                  <a:close/>
                </a:path>
              </a:pathLst>
            </a:custGeom>
            <a:noFill/>
            <a:ln cap="sq" w="19050">
              <a:solidFill>
                <a:srgbClr val="d4f592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45720" rIns="45720" tIns="45000" bIns="45000" anchor="ctr">
              <a:noAutofit/>
            </a:bodyPr>
            <a:p>
              <a:pPr>
                <a:lnSpc>
                  <a:spcPct val="120000"/>
                </a:lnSpc>
                <a:tabLst>
                  <a:tab algn="l" pos="0"/>
                </a:tabLst>
              </a:pPr>
              <a:endParaRPr b="0" lang="en-IN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2" name="Google Shape;185;p5"/>
            <p:cNvSpPr/>
            <p:nvPr/>
          </p:nvSpPr>
          <p:spPr>
            <a:xfrm rot="8100000">
              <a:off x="138960" y="-255960"/>
              <a:ext cx="3331080" cy="1411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5720" rIns="45720" tIns="45000" bIns="45000" anchor="ctr">
              <a:noAutofit/>
            </a:bodyPr>
            <a:p>
              <a:pPr algn="ctr">
                <a:lnSpc>
                  <a:spcPct val="120000"/>
                </a:lnSpc>
                <a:tabLst>
                  <a:tab algn="l" pos="0"/>
                </a:tabLst>
              </a:pPr>
              <a:endParaRPr b="0" lang="en-IN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53" name="Google Shape;186;p5"/>
          <p:cNvGrpSpPr/>
          <p:nvPr/>
        </p:nvGrpSpPr>
        <p:grpSpPr>
          <a:xfrm>
            <a:off x="14886720" y="8240400"/>
            <a:ext cx="3376080" cy="3376080"/>
            <a:chOff x="14886720" y="8240400"/>
            <a:chExt cx="3376080" cy="3376080"/>
          </a:xfrm>
        </p:grpSpPr>
        <p:sp>
          <p:nvSpPr>
            <p:cNvPr id="154" name="Google Shape;187;p5"/>
            <p:cNvSpPr/>
            <p:nvPr/>
          </p:nvSpPr>
          <p:spPr>
            <a:xfrm rot="8100000">
              <a:off x="14846400" y="9239040"/>
              <a:ext cx="3353400" cy="1276200"/>
            </a:xfrm>
            <a:custGeom>
              <a:avLst/>
              <a:gdLst>
                <a:gd name="textAreaLeft" fmla="*/ 0 w 3353400"/>
                <a:gd name="textAreaRight" fmla="*/ 3353760 w 3353400"/>
                <a:gd name="textAreaTop" fmla="*/ 0 h 1276200"/>
                <a:gd name="textAreaBottom" fmla="*/ 1276560 h 1276200"/>
              </a:gdLst>
              <a:ahLst/>
              <a:rect l="textAreaLeft" t="textAreaTop" r="textAreaRight" b="textAreaBottom"/>
              <a:pathLst>
                <a:path w="882773" h="336039">
                  <a:moveTo>
                    <a:pt x="679573" y="0"/>
                  </a:moveTo>
                  <a:cubicBezTo>
                    <a:pt x="791798" y="0"/>
                    <a:pt x="882773" y="75225"/>
                    <a:pt x="882773" y="168020"/>
                  </a:cubicBezTo>
                  <a:cubicBezTo>
                    <a:pt x="882773" y="260814"/>
                    <a:pt x="791798" y="336039"/>
                    <a:pt x="679573" y="336039"/>
                  </a:cubicBezTo>
                  <a:lnTo>
                    <a:pt x="203200" y="336039"/>
                  </a:lnTo>
                  <a:cubicBezTo>
                    <a:pt x="90976" y="336039"/>
                    <a:pt x="0" y="260814"/>
                    <a:pt x="0" y="168020"/>
                  </a:cubicBezTo>
                  <a:cubicBezTo>
                    <a:pt x="0" y="7522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b0af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5720" rIns="45720" tIns="45000" bIns="45000" anchor="ctr">
              <a:noAutofit/>
            </a:bodyPr>
            <a:p>
              <a:pPr>
                <a:lnSpc>
                  <a:spcPct val="120000"/>
                </a:lnSpc>
                <a:tabLst>
                  <a:tab algn="l" pos="0"/>
                </a:tabLst>
              </a:pPr>
              <a:endParaRPr b="0" lang="en-IN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5" name="Google Shape;188;p5"/>
            <p:cNvSpPr/>
            <p:nvPr/>
          </p:nvSpPr>
          <p:spPr>
            <a:xfrm rot="8100000">
              <a:off x="14897880" y="9217800"/>
              <a:ext cx="3353400" cy="1420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5720" rIns="45720" tIns="45000" bIns="45000" anchor="ctr">
              <a:noAutofit/>
            </a:bodyPr>
            <a:p>
              <a:pPr algn="ctr">
                <a:lnSpc>
                  <a:spcPct val="120000"/>
                </a:lnSpc>
                <a:tabLst>
                  <a:tab algn="l" pos="0"/>
                </a:tabLst>
              </a:pPr>
              <a:endParaRPr b="0" lang="en-IN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56" name="Google Shape;189;p5"/>
          <p:cNvGrpSpPr/>
          <p:nvPr/>
        </p:nvGrpSpPr>
        <p:grpSpPr>
          <a:xfrm>
            <a:off x="974520" y="2126520"/>
            <a:ext cx="16338600" cy="5982120"/>
            <a:chOff x="974520" y="2126520"/>
            <a:chExt cx="16338600" cy="5982120"/>
          </a:xfrm>
        </p:grpSpPr>
        <p:sp>
          <p:nvSpPr>
            <p:cNvPr id="157" name="Google Shape;190;p5"/>
            <p:cNvSpPr/>
            <p:nvPr/>
          </p:nvSpPr>
          <p:spPr>
            <a:xfrm>
              <a:off x="974520" y="3415680"/>
              <a:ext cx="16338600" cy="4692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5720" rIns="45720" tIns="45000" bIns="45000" anchor="t">
              <a:spAutoFit/>
            </a:bodyPr>
            <a:p>
              <a:pPr>
                <a:lnSpc>
                  <a:spcPct val="100000"/>
                </a:lnSpc>
              </a:pPr>
              <a:endParaRPr b="0" lang="en-IN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58" name="Google Shape;191;p5"/>
            <p:cNvSpPr/>
            <p:nvPr/>
          </p:nvSpPr>
          <p:spPr>
            <a:xfrm>
              <a:off x="974520" y="2126520"/>
              <a:ext cx="16338600" cy="491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5720" rIns="45720" tIns="45000" bIns="45000" anchor="t">
              <a:spAutoFit/>
            </a:bodyPr>
            <a:p>
              <a:pPr>
                <a:lnSpc>
                  <a:spcPct val="120000"/>
                </a:lnSpc>
                <a:tabLst>
                  <a:tab algn="l" pos="0"/>
                </a:tabLst>
              </a:pPr>
              <a:r>
                <a:rPr b="1" lang="en-IN" sz="2200" spc="-1" strike="noStrike">
                  <a:solidFill>
                    <a:srgbClr val="b0afd3"/>
                  </a:solidFill>
                  <a:latin typeface="Arial"/>
                  <a:ea typeface="Arial"/>
                </a:rPr>
                <a:t>System Architecture Overview</a:t>
              </a:r>
              <a:endParaRPr b="0" lang="en-IN" sz="22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pic>
        <p:nvPicPr>
          <p:cNvPr id="159" name="Picture 191" descr="image.jpg"/>
          <p:cNvPicPr/>
          <p:nvPr/>
        </p:nvPicPr>
        <p:blipFill>
          <a:blip r:embed="rId1"/>
          <a:stretch/>
        </p:blipFill>
        <p:spPr>
          <a:xfrm>
            <a:off x="5212080" y="1737360"/>
            <a:ext cx="7863480" cy="7863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307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96;p6"/>
          <p:cNvSpPr/>
          <p:nvPr/>
        </p:nvSpPr>
        <p:spPr>
          <a:xfrm>
            <a:off x="666720" y="762120"/>
            <a:ext cx="5447880" cy="89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1" lang="en-IN" sz="2200" spc="-1" strike="noStrike">
                <a:solidFill>
                  <a:srgbClr val="b0afd3"/>
                </a:solidFill>
                <a:latin typeface="Arial"/>
                <a:ea typeface="Arial"/>
              </a:rPr>
              <a:t>Key Challenges &amp; Engineering Solutions</a:t>
            </a:r>
            <a:endParaRPr b="0" lang="en-IN" sz="22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161" name="Google Shape;197;p6"/>
          <p:cNvGrpSpPr/>
          <p:nvPr/>
        </p:nvGrpSpPr>
        <p:grpSpPr>
          <a:xfrm>
            <a:off x="7858440" y="1519920"/>
            <a:ext cx="854280" cy="415440"/>
            <a:chOff x="7858440" y="1519920"/>
            <a:chExt cx="854280" cy="415440"/>
          </a:xfrm>
        </p:grpSpPr>
        <p:sp>
          <p:nvSpPr>
            <p:cNvPr id="162" name="Google Shape;198;p6"/>
            <p:cNvSpPr/>
            <p:nvPr/>
          </p:nvSpPr>
          <p:spPr>
            <a:xfrm>
              <a:off x="7858440" y="1562040"/>
              <a:ext cx="854280" cy="372960"/>
            </a:xfrm>
            <a:custGeom>
              <a:avLst/>
              <a:gdLst>
                <a:gd name="textAreaLeft" fmla="*/ 0 w 854280"/>
                <a:gd name="textAreaRight" fmla="*/ 854640 w 854280"/>
                <a:gd name="textAreaTop" fmla="*/ 0 h 372960"/>
                <a:gd name="textAreaBottom" fmla="*/ 373320 h 372960"/>
              </a:gdLst>
              <a:ahLst/>
              <a:rect l="textAreaLeft" t="textAreaTop" r="textAreaRight" b="textAreaBottom"/>
              <a:pathLst>
                <a:path w="769424" h="336039">
                  <a:moveTo>
                    <a:pt x="566224" y="0"/>
                  </a:moveTo>
                  <a:cubicBezTo>
                    <a:pt x="678448" y="0"/>
                    <a:pt x="769424" y="75225"/>
                    <a:pt x="769424" y="168020"/>
                  </a:cubicBezTo>
                  <a:cubicBezTo>
                    <a:pt x="769424" y="260814"/>
                    <a:pt x="678448" y="336039"/>
                    <a:pt x="566224" y="336039"/>
                  </a:cubicBezTo>
                  <a:lnTo>
                    <a:pt x="203200" y="336039"/>
                  </a:lnTo>
                  <a:cubicBezTo>
                    <a:pt x="90976" y="336039"/>
                    <a:pt x="0" y="260814"/>
                    <a:pt x="0" y="168020"/>
                  </a:cubicBezTo>
                  <a:cubicBezTo>
                    <a:pt x="0" y="7522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30733"/>
            </a:solidFill>
            <a:ln cap="sq" w="19050">
              <a:solidFill>
                <a:srgbClr val="2bca81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45720" rIns="45720" tIns="45000" bIns="45000" anchor="ctr">
              <a:noAutofit/>
            </a:bodyPr>
            <a:p>
              <a:pPr>
                <a:lnSpc>
                  <a:spcPct val="120000"/>
                </a:lnSpc>
                <a:tabLst>
                  <a:tab algn="l" pos="0"/>
                </a:tabLst>
              </a:pPr>
              <a:endParaRPr b="0" lang="en-IN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3" name="Google Shape;199;p6"/>
            <p:cNvSpPr/>
            <p:nvPr/>
          </p:nvSpPr>
          <p:spPr>
            <a:xfrm>
              <a:off x="7858440" y="1519920"/>
              <a:ext cx="854280" cy="415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5720" rIns="45720" tIns="45000" bIns="45000" anchor="ctr">
              <a:noAutofit/>
            </a:bodyPr>
            <a:p>
              <a:pPr algn="ctr">
                <a:lnSpc>
                  <a:spcPct val="120000"/>
                </a:lnSpc>
                <a:tabLst>
                  <a:tab algn="l" pos="0"/>
                </a:tabLst>
              </a:pPr>
              <a:endParaRPr b="0" lang="en-IN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64" name="Google Shape;200;p6"/>
          <p:cNvGrpSpPr/>
          <p:nvPr/>
        </p:nvGrpSpPr>
        <p:grpSpPr>
          <a:xfrm>
            <a:off x="12872520" y="5996520"/>
            <a:ext cx="854280" cy="415440"/>
            <a:chOff x="12872520" y="5996520"/>
            <a:chExt cx="854280" cy="415440"/>
          </a:xfrm>
        </p:grpSpPr>
        <p:sp>
          <p:nvSpPr>
            <p:cNvPr id="165" name="Google Shape;201;p6"/>
            <p:cNvSpPr/>
            <p:nvPr/>
          </p:nvSpPr>
          <p:spPr>
            <a:xfrm>
              <a:off x="12872520" y="6039000"/>
              <a:ext cx="854280" cy="372960"/>
            </a:xfrm>
            <a:custGeom>
              <a:avLst/>
              <a:gdLst>
                <a:gd name="textAreaLeft" fmla="*/ 0 w 854280"/>
                <a:gd name="textAreaRight" fmla="*/ 854640 w 854280"/>
                <a:gd name="textAreaTop" fmla="*/ 0 h 372960"/>
                <a:gd name="textAreaBottom" fmla="*/ 373320 h 372960"/>
              </a:gdLst>
              <a:ahLst/>
              <a:rect l="textAreaLeft" t="textAreaTop" r="textAreaRight" b="textAreaBottom"/>
              <a:pathLst>
                <a:path w="769424" h="336039">
                  <a:moveTo>
                    <a:pt x="566224" y="0"/>
                  </a:moveTo>
                  <a:cubicBezTo>
                    <a:pt x="678448" y="0"/>
                    <a:pt x="769424" y="75225"/>
                    <a:pt x="769424" y="168020"/>
                  </a:cubicBezTo>
                  <a:cubicBezTo>
                    <a:pt x="769424" y="260814"/>
                    <a:pt x="678448" y="336039"/>
                    <a:pt x="566224" y="336039"/>
                  </a:cubicBezTo>
                  <a:lnTo>
                    <a:pt x="203200" y="336039"/>
                  </a:lnTo>
                  <a:cubicBezTo>
                    <a:pt x="90976" y="336039"/>
                    <a:pt x="0" y="260814"/>
                    <a:pt x="0" y="168020"/>
                  </a:cubicBezTo>
                  <a:cubicBezTo>
                    <a:pt x="0" y="7522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30733"/>
            </a:solidFill>
            <a:ln cap="sq" w="19050">
              <a:solidFill>
                <a:srgbClr val="2bca81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45720" rIns="45720" tIns="45000" bIns="45000" anchor="ctr">
              <a:noAutofit/>
            </a:bodyPr>
            <a:p>
              <a:pPr>
                <a:lnSpc>
                  <a:spcPct val="120000"/>
                </a:lnSpc>
                <a:tabLst>
                  <a:tab algn="l" pos="0"/>
                </a:tabLst>
              </a:pPr>
              <a:endParaRPr b="0" lang="en-IN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6" name="Google Shape;202;p6"/>
            <p:cNvSpPr/>
            <p:nvPr/>
          </p:nvSpPr>
          <p:spPr>
            <a:xfrm>
              <a:off x="12872520" y="5996520"/>
              <a:ext cx="854280" cy="415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5720" rIns="45720" tIns="45000" bIns="45000" anchor="ctr">
              <a:noAutofit/>
            </a:bodyPr>
            <a:p>
              <a:pPr algn="ctr">
                <a:lnSpc>
                  <a:spcPct val="120000"/>
                </a:lnSpc>
                <a:tabLst>
                  <a:tab algn="l" pos="0"/>
                </a:tabLst>
              </a:pPr>
              <a:endParaRPr b="0" lang="en-IN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67" name="Google Shape;203;p6"/>
          <p:cNvGrpSpPr/>
          <p:nvPr/>
        </p:nvGrpSpPr>
        <p:grpSpPr>
          <a:xfrm>
            <a:off x="7858440" y="5996520"/>
            <a:ext cx="854280" cy="415440"/>
            <a:chOff x="7858440" y="5996520"/>
            <a:chExt cx="854280" cy="415440"/>
          </a:xfrm>
        </p:grpSpPr>
        <p:sp>
          <p:nvSpPr>
            <p:cNvPr id="168" name="Google Shape;204;p6"/>
            <p:cNvSpPr/>
            <p:nvPr/>
          </p:nvSpPr>
          <p:spPr>
            <a:xfrm>
              <a:off x="7858440" y="6039000"/>
              <a:ext cx="854280" cy="372960"/>
            </a:xfrm>
            <a:custGeom>
              <a:avLst/>
              <a:gdLst>
                <a:gd name="textAreaLeft" fmla="*/ 0 w 854280"/>
                <a:gd name="textAreaRight" fmla="*/ 854640 w 854280"/>
                <a:gd name="textAreaTop" fmla="*/ 0 h 372960"/>
                <a:gd name="textAreaBottom" fmla="*/ 373320 h 372960"/>
              </a:gdLst>
              <a:ahLst/>
              <a:rect l="textAreaLeft" t="textAreaTop" r="textAreaRight" b="textAreaBottom"/>
              <a:pathLst>
                <a:path w="769424" h="336039">
                  <a:moveTo>
                    <a:pt x="566224" y="0"/>
                  </a:moveTo>
                  <a:cubicBezTo>
                    <a:pt x="678448" y="0"/>
                    <a:pt x="769424" y="75225"/>
                    <a:pt x="769424" y="168020"/>
                  </a:cubicBezTo>
                  <a:cubicBezTo>
                    <a:pt x="769424" y="260814"/>
                    <a:pt x="678448" y="336039"/>
                    <a:pt x="566224" y="336039"/>
                  </a:cubicBezTo>
                  <a:lnTo>
                    <a:pt x="203200" y="336039"/>
                  </a:lnTo>
                  <a:cubicBezTo>
                    <a:pt x="90976" y="336039"/>
                    <a:pt x="0" y="260814"/>
                    <a:pt x="0" y="168020"/>
                  </a:cubicBezTo>
                  <a:cubicBezTo>
                    <a:pt x="0" y="7522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30733"/>
            </a:solidFill>
            <a:ln cap="sq" w="19050">
              <a:solidFill>
                <a:srgbClr val="2bca81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45720" rIns="45720" tIns="45000" bIns="45000" anchor="ctr">
              <a:noAutofit/>
            </a:bodyPr>
            <a:p>
              <a:pPr>
                <a:lnSpc>
                  <a:spcPct val="120000"/>
                </a:lnSpc>
                <a:tabLst>
                  <a:tab algn="l" pos="0"/>
                </a:tabLst>
              </a:pPr>
              <a:endParaRPr b="0" lang="en-IN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9" name="Google Shape;205;p6"/>
            <p:cNvSpPr/>
            <p:nvPr/>
          </p:nvSpPr>
          <p:spPr>
            <a:xfrm>
              <a:off x="7858440" y="5996520"/>
              <a:ext cx="854280" cy="415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5720" rIns="45720" tIns="45000" bIns="45000" anchor="ctr">
              <a:noAutofit/>
            </a:bodyPr>
            <a:p>
              <a:pPr algn="ctr">
                <a:lnSpc>
                  <a:spcPct val="120000"/>
                </a:lnSpc>
                <a:tabLst>
                  <a:tab algn="l" pos="0"/>
                </a:tabLst>
              </a:pPr>
              <a:endParaRPr b="0" lang="en-IN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70" name="Google Shape;206;p6"/>
          <p:cNvGrpSpPr/>
          <p:nvPr/>
        </p:nvGrpSpPr>
        <p:grpSpPr>
          <a:xfrm>
            <a:off x="12872520" y="1519920"/>
            <a:ext cx="854280" cy="415440"/>
            <a:chOff x="12872520" y="1519920"/>
            <a:chExt cx="854280" cy="415440"/>
          </a:xfrm>
        </p:grpSpPr>
        <p:sp>
          <p:nvSpPr>
            <p:cNvPr id="171" name="Google Shape;207;p6"/>
            <p:cNvSpPr/>
            <p:nvPr/>
          </p:nvSpPr>
          <p:spPr>
            <a:xfrm>
              <a:off x="12872520" y="1562040"/>
              <a:ext cx="854280" cy="372960"/>
            </a:xfrm>
            <a:custGeom>
              <a:avLst/>
              <a:gdLst>
                <a:gd name="textAreaLeft" fmla="*/ 0 w 854280"/>
                <a:gd name="textAreaRight" fmla="*/ 854640 w 854280"/>
                <a:gd name="textAreaTop" fmla="*/ 0 h 372960"/>
                <a:gd name="textAreaBottom" fmla="*/ 373320 h 372960"/>
              </a:gdLst>
              <a:ahLst/>
              <a:rect l="textAreaLeft" t="textAreaTop" r="textAreaRight" b="textAreaBottom"/>
              <a:pathLst>
                <a:path w="769424" h="336039">
                  <a:moveTo>
                    <a:pt x="566224" y="0"/>
                  </a:moveTo>
                  <a:cubicBezTo>
                    <a:pt x="678448" y="0"/>
                    <a:pt x="769424" y="75225"/>
                    <a:pt x="769424" y="168020"/>
                  </a:cubicBezTo>
                  <a:cubicBezTo>
                    <a:pt x="769424" y="260814"/>
                    <a:pt x="678448" y="336039"/>
                    <a:pt x="566224" y="336039"/>
                  </a:cubicBezTo>
                  <a:lnTo>
                    <a:pt x="203200" y="336039"/>
                  </a:lnTo>
                  <a:cubicBezTo>
                    <a:pt x="90976" y="336039"/>
                    <a:pt x="0" y="260814"/>
                    <a:pt x="0" y="168020"/>
                  </a:cubicBezTo>
                  <a:cubicBezTo>
                    <a:pt x="0" y="7522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30733"/>
            </a:solidFill>
            <a:ln cap="sq" w="19050">
              <a:solidFill>
                <a:srgbClr val="2bca81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45720" rIns="45720" tIns="45000" bIns="45000" anchor="ctr">
              <a:noAutofit/>
            </a:bodyPr>
            <a:p>
              <a:pPr>
                <a:lnSpc>
                  <a:spcPct val="120000"/>
                </a:lnSpc>
                <a:tabLst>
                  <a:tab algn="l" pos="0"/>
                </a:tabLst>
              </a:pPr>
              <a:endParaRPr b="0" lang="en-IN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2" name="Google Shape;208;p6"/>
            <p:cNvSpPr/>
            <p:nvPr/>
          </p:nvSpPr>
          <p:spPr>
            <a:xfrm>
              <a:off x="12872520" y="1519920"/>
              <a:ext cx="854280" cy="415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5720" rIns="45720" tIns="45000" bIns="45000" anchor="ctr">
              <a:noAutofit/>
            </a:bodyPr>
            <a:p>
              <a:pPr algn="ctr">
                <a:lnSpc>
                  <a:spcPct val="120000"/>
                </a:lnSpc>
                <a:tabLst>
                  <a:tab algn="l" pos="0"/>
                </a:tabLst>
              </a:pPr>
              <a:endParaRPr b="0" lang="en-IN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73" name="Google Shape;209;p6"/>
          <p:cNvGrpSpPr/>
          <p:nvPr/>
        </p:nvGrpSpPr>
        <p:grpSpPr>
          <a:xfrm>
            <a:off x="12872520" y="2456280"/>
            <a:ext cx="4748400" cy="1450440"/>
            <a:chOff x="12872520" y="2456280"/>
            <a:chExt cx="4748400" cy="1450440"/>
          </a:xfrm>
        </p:grpSpPr>
        <p:sp>
          <p:nvSpPr>
            <p:cNvPr id="174" name="Google Shape;210;p6"/>
            <p:cNvSpPr/>
            <p:nvPr/>
          </p:nvSpPr>
          <p:spPr>
            <a:xfrm>
              <a:off x="12872520" y="2456280"/>
              <a:ext cx="4748400" cy="418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5720" rIns="45720" tIns="45000" bIns="45000" anchor="t">
              <a:spAutoFit/>
            </a:bodyPr>
            <a:p>
              <a:pPr>
                <a:lnSpc>
                  <a:spcPct val="120000"/>
                </a:lnSpc>
                <a:tabLst>
                  <a:tab algn="l" pos="0"/>
                </a:tabLst>
              </a:pPr>
              <a:r>
                <a:rPr b="1" lang="en-IN" sz="1800" spc="-1" strike="noStrike">
                  <a:solidFill>
                    <a:srgbClr val="b0afd3"/>
                  </a:solidFill>
                  <a:latin typeface="Arial"/>
                  <a:ea typeface="Arial"/>
                </a:rPr>
                <a:t>Scalability &amp; High Throughput</a:t>
              </a: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5" name="Google Shape;211;p6"/>
            <p:cNvSpPr/>
            <p:nvPr/>
          </p:nvSpPr>
          <p:spPr>
            <a:xfrm>
              <a:off x="12872520" y="3049200"/>
              <a:ext cx="4748400" cy="857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5720" rIns="45720" tIns="45000" bIns="45000" anchor="t">
              <a:spAutoFit/>
            </a:bodyPr>
            <a:p>
              <a:pPr>
                <a:lnSpc>
                  <a:spcPct val="120000"/>
                </a:lnSpc>
                <a:tabLst>
                  <a:tab algn="l" pos="0"/>
                </a:tabLst>
              </a:pPr>
              <a:r>
                <a:rPr b="0" lang="en-IN" sz="1400" spc="-1" strike="noStrike">
                  <a:solidFill>
                    <a:srgbClr val="b0afd3"/>
                  </a:solidFill>
                  <a:latin typeface="Arial"/>
                  <a:ea typeface="Arial"/>
                </a:rPr>
                <a:t>Asynchronous log ingestion and Redis caching allow the platform to process 4,500+ security events continuously without system lag.</a:t>
              </a:r>
              <a:endParaRPr b="0" lang="en-IN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76" name="Google Shape;212;p6"/>
          <p:cNvGrpSpPr/>
          <p:nvPr/>
        </p:nvGrpSpPr>
        <p:grpSpPr>
          <a:xfrm>
            <a:off x="7858080" y="2457360"/>
            <a:ext cx="4748400" cy="1450440"/>
            <a:chOff x="7858080" y="2457360"/>
            <a:chExt cx="4748400" cy="1450440"/>
          </a:xfrm>
        </p:grpSpPr>
        <p:sp>
          <p:nvSpPr>
            <p:cNvPr id="177" name="Google Shape;213;p6"/>
            <p:cNvSpPr/>
            <p:nvPr/>
          </p:nvSpPr>
          <p:spPr>
            <a:xfrm>
              <a:off x="7858080" y="2457360"/>
              <a:ext cx="4748400" cy="418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5720" rIns="45720" tIns="45000" bIns="45000" anchor="t">
              <a:spAutoFit/>
            </a:bodyPr>
            <a:p>
              <a:pPr>
                <a:lnSpc>
                  <a:spcPct val="120000"/>
                </a:lnSpc>
                <a:tabLst>
                  <a:tab algn="l" pos="0"/>
                </a:tabLst>
              </a:pPr>
              <a:r>
                <a:rPr b="1" lang="en-IN" sz="1800" spc="-1" strike="noStrike">
                  <a:solidFill>
                    <a:srgbClr val="b0afd3"/>
                  </a:solidFill>
                  <a:latin typeface="Arial"/>
                  <a:ea typeface="Arial"/>
                </a:rPr>
                <a:t>Security &amp; Compliance</a:t>
              </a: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8" name="Google Shape;214;p6"/>
            <p:cNvSpPr/>
            <p:nvPr/>
          </p:nvSpPr>
          <p:spPr>
            <a:xfrm>
              <a:off x="7858080" y="3050280"/>
              <a:ext cx="4748400" cy="857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5720" rIns="45720" tIns="45000" bIns="45000" anchor="t">
              <a:spAutoFit/>
            </a:bodyPr>
            <a:p>
              <a:pPr>
                <a:lnSpc>
                  <a:spcPct val="120000"/>
                </a:lnSpc>
                <a:tabLst>
                  <a:tab algn="l" pos="0"/>
                </a:tabLst>
              </a:pPr>
              <a:r>
                <a:rPr b="0" lang="en-IN" sz="1400" spc="-1" strike="noStrike">
                  <a:solidFill>
                    <a:srgbClr val="b0afd3"/>
                  </a:solidFill>
                  <a:latin typeface="Arial"/>
                  <a:ea typeface="Arial"/>
                </a:rPr>
                <a:t>Implementing strict RBAC policies (Admin, Analyst, Auditor) and audit trails ensures regulatory compliance and zero unauthorized access.</a:t>
              </a:r>
              <a:endParaRPr b="0" lang="en-IN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79" name="Google Shape;215;p6"/>
          <p:cNvGrpSpPr/>
          <p:nvPr/>
        </p:nvGrpSpPr>
        <p:grpSpPr>
          <a:xfrm>
            <a:off x="7812720" y="6932880"/>
            <a:ext cx="4793760" cy="1450440"/>
            <a:chOff x="7812720" y="6932880"/>
            <a:chExt cx="4793760" cy="1450440"/>
          </a:xfrm>
        </p:grpSpPr>
        <p:sp>
          <p:nvSpPr>
            <p:cNvPr id="180" name="Google Shape;216;p6"/>
            <p:cNvSpPr/>
            <p:nvPr/>
          </p:nvSpPr>
          <p:spPr>
            <a:xfrm>
              <a:off x="7812720" y="6932880"/>
              <a:ext cx="4793760" cy="418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5720" rIns="45720" tIns="45000" bIns="45000" anchor="t">
              <a:spAutoFit/>
            </a:bodyPr>
            <a:p>
              <a:pPr>
                <a:lnSpc>
                  <a:spcPct val="120000"/>
                </a:lnSpc>
                <a:tabLst>
                  <a:tab algn="l" pos="0"/>
                </a:tabLst>
              </a:pPr>
              <a:r>
                <a:rPr b="1" lang="en-IN" sz="1800" spc="-1" strike="noStrike">
                  <a:solidFill>
                    <a:srgbClr val="b0afd3"/>
                  </a:solidFill>
                  <a:latin typeface="Arial"/>
                  <a:ea typeface="Arial"/>
                </a:rPr>
                <a:t>False Positive Minimization</a:t>
              </a: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81" name="Google Shape;217;p6"/>
            <p:cNvSpPr/>
            <p:nvPr/>
          </p:nvSpPr>
          <p:spPr>
            <a:xfrm>
              <a:off x="7858080" y="7525800"/>
              <a:ext cx="4748400" cy="857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5720" rIns="45720" tIns="45000" bIns="45000" anchor="t">
              <a:spAutoFit/>
            </a:bodyPr>
            <a:p>
              <a:pPr>
                <a:lnSpc>
                  <a:spcPct val="120000"/>
                </a:lnSpc>
                <a:tabLst>
                  <a:tab algn="l" pos="0"/>
                </a:tabLst>
              </a:pPr>
              <a:r>
                <a:rPr b="0" lang="en-IN" sz="1400" spc="-1" strike="noStrike">
                  <a:solidFill>
                    <a:srgbClr val="b0afd3"/>
                  </a:solidFill>
                  <a:latin typeface="Arial"/>
                  <a:ea typeface="Arial"/>
                </a:rPr>
                <a:t>Adaptive machine learning models evaluate user actions against 30-day historical behavior and peer group benchmarks to reduce false alarms.</a:t>
              </a:r>
              <a:endParaRPr b="0" lang="en-IN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82" name="Google Shape;218;p6"/>
          <p:cNvGrpSpPr/>
          <p:nvPr/>
        </p:nvGrpSpPr>
        <p:grpSpPr>
          <a:xfrm>
            <a:off x="12872520" y="6932880"/>
            <a:ext cx="4748400" cy="1450440"/>
            <a:chOff x="12872520" y="6932880"/>
            <a:chExt cx="4748400" cy="1450440"/>
          </a:xfrm>
        </p:grpSpPr>
        <p:sp>
          <p:nvSpPr>
            <p:cNvPr id="183" name="Google Shape;219;p6"/>
            <p:cNvSpPr/>
            <p:nvPr/>
          </p:nvSpPr>
          <p:spPr>
            <a:xfrm>
              <a:off x="12872520" y="6932880"/>
              <a:ext cx="4748400" cy="418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5720" rIns="45720" tIns="45000" bIns="45000" anchor="t">
              <a:spAutoFit/>
            </a:bodyPr>
            <a:p>
              <a:pPr>
                <a:lnSpc>
                  <a:spcPct val="120000"/>
                </a:lnSpc>
                <a:tabLst>
                  <a:tab algn="l" pos="0"/>
                </a:tabLst>
              </a:pPr>
              <a:r>
                <a:rPr b="1" lang="en-IN" sz="1800" spc="-1" strike="noStrike">
                  <a:solidFill>
                    <a:srgbClr val="b0afd3"/>
                  </a:solidFill>
                  <a:latin typeface="Arial"/>
                  <a:ea typeface="Arial"/>
                </a:rPr>
                <a:t>Real-Time Incident Triage</a:t>
              </a: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84" name="Google Shape;220;p6"/>
            <p:cNvSpPr/>
            <p:nvPr/>
          </p:nvSpPr>
          <p:spPr>
            <a:xfrm>
              <a:off x="12872520" y="7525800"/>
              <a:ext cx="4748400" cy="857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5720" rIns="45720" tIns="45000" bIns="45000" anchor="t">
              <a:spAutoFit/>
            </a:bodyPr>
            <a:p>
              <a:pPr>
                <a:lnSpc>
                  <a:spcPct val="120000"/>
                </a:lnSpc>
                <a:tabLst>
                  <a:tab algn="l" pos="0"/>
                </a:tabLst>
              </a:pPr>
              <a:r>
                <a:rPr b="0" lang="en-IN" sz="1400" spc="-1" strike="noStrike">
                  <a:solidFill>
                    <a:srgbClr val="b0afd3"/>
                  </a:solidFill>
                  <a:latin typeface="Arial"/>
                  <a:ea typeface="Arial"/>
                </a:rPr>
                <a:t>Instant WebSocket push notifications and background execution loops ensure SOC teams receive high-severity threat alerts immediately.</a:t>
              </a:r>
              <a:endParaRPr b="0" lang="en-IN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85" name="Google Shape;221;p6"/>
          <p:cNvGrpSpPr/>
          <p:nvPr/>
        </p:nvGrpSpPr>
        <p:grpSpPr>
          <a:xfrm>
            <a:off x="-1034640" y="6996240"/>
            <a:ext cx="3453840" cy="4601160"/>
            <a:chOff x="-1034640" y="6996240"/>
            <a:chExt cx="3453840" cy="4601160"/>
          </a:xfrm>
        </p:grpSpPr>
        <p:grpSp>
          <p:nvGrpSpPr>
            <p:cNvPr id="186" name="Google Shape;222;p6"/>
            <p:cNvGrpSpPr/>
            <p:nvPr/>
          </p:nvGrpSpPr>
          <p:grpSpPr>
            <a:xfrm>
              <a:off x="-883440" y="6996240"/>
              <a:ext cx="3302640" cy="3302640"/>
              <a:chOff x="-883440" y="6996240"/>
              <a:chExt cx="3302640" cy="3302640"/>
            </a:xfrm>
          </p:grpSpPr>
          <p:sp>
            <p:nvSpPr>
              <p:cNvPr id="187" name="Google Shape;223;p6"/>
              <p:cNvSpPr/>
              <p:nvPr/>
            </p:nvSpPr>
            <p:spPr>
              <a:xfrm rot="8100000">
                <a:off x="-923040" y="7988040"/>
                <a:ext cx="3331080" cy="1267920"/>
              </a:xfrm>
              <a:custGeom>
                <a:avLst/>
                <a:gdLst>
                  <a:gd name="textAreaLeft" fmla="*/ 0 w 3331080"/>
                  <a:gd name="textAreaRight" fmla="*/ 3331440 w 3331080"/>
                  <a:gd name="textAreaTop" fmla="*/ 0 h 1267920"/>
                  <a:gd name="textAreaBottom" fmla="*/ 1268280 h 1267920"/>
                </a:gdLst>
                <a:ahLst/>
                <a:rect l="textAreaLeft" t="textAreaTop" r="textAreaRight" b="textAreaBottom"/>
                <a:pathLst>
                  <a:path w="882773" h="336039">
                    <a:moveTo>
                      <a:pt x="679573" y="0"/>
                    </a:moveTo>
                    <a:cubicBezTo>
                      <a:pt x="791798" y="0"/>
                      <a:pt x="882773" y="75225"/>
                      <a:pt x="882773" y="168020"/>
                    </a:cubicBezTo>
                    <a:cubicBezTo>
                      <a:pt x="882773" y="260814"/>
                      <a:pt x="791798" y="336039"/>
                      <a:pt x="679573" y="336039"/>
                    </a:cubicBezTo>
                    <a:lnTo>
                      <a:pt x="203200" y="336039"/>
                    </a:lnTo>
                    <a:cubicBezTo>
                      <a:pt x="90976" y="336039"/>
                      <a:pt x="0" y="260814"/>
                      <a:pt x="0" y="168020"/>
                    </a:cubicBezTo>
                    <a:cubicBezTo>
                      <a:pt x="0" y="75225"/>
                      <a:pt x="90976" y="0"/>
                      <a:pt x="203200" y="0"/>
                    </a:cubicBezTo>
                    <a:close/>
                  </a:path>
                </a:pathLst>
              </a:custGeom>
              <a:noFill/>
              <a:ln cap="sq" w="19050">
                <a:solidFill>
                  <a:srgbClr val="2bca81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5720" rIns="45720" tIns="45000" bIns="45000" anchor="ctr">
                <a:noAutofit/>
              </a:bodyPr>
              <a:p>
                <a:pPr>
                  <a:lnSpc>
                    <a:spcPct val="120000"/>
                  </a:lnSpc>
                  <a:tabLst>
                    <a:tab algn="l" pos="0"/>
                  </a:tabLst>
                </a:pPr>
                <a:endParaRPr b="0" lang="en-IN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188" name="Google Shape;224;p6"/>
              <p:cNvSpPr/>
              <p:nvPr/>
            </p:nvSpPr>
            <p:spPr>
              <a:xfrm rot="8100000">
                <a:off x="-897480" y="7977600"/>
                <a:ext cx="3331080" cy="13395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5720" rIns="45720" tIns="45000" bIns="45000" anchor="ctr">
                <a:noAutofit/>
              </a:bodyPr>
              <a:p>
                <a:pPr algn="ctr">
                  <a:lnSpc>
                    <a:spcPct val="120000"/>
                  </a:lnSpc>
                  <a:tabLst>
                    <a:tab algn="l" pos="0"/>
                  </a:tabLst>
                </a:pPr>
                <a:endParaRPr b="0" lang="en-IN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189" name="Google Shape;225;p6"/>
            <p:cNvGrpSpPr/>
            <p:nvPr/>
          </p:nvGrpSpPr>
          <p:grpSpPr>
            <a:xfrm>
              <a:off x="-1034640" y="8246880"/>
              <a:ext cx="3350520" cy="3350520"/>
              <a:chOff x="-1034640" y="8246880"/>
              <a:chExt cx="3350520" cy="3350520"/>
            </a:xfrm>
          </p:grpSpPr>
          <p:sp>
            <p:nvSpPr>
              <p:cNvPr id="190" name="Google Shape;226;p6"/>
              <p:cNvSpPr/>
              <p:nvPr/>
            </p:nvSpPr>
            <p:spPr>
              <a:xfrm rot="8100000">
                <a:off x="-1074240" y="9245520"/>
                <a:ext cx="3353400" cy="1276200"/>
              </a:xfrm>
              <a:custGeom>
                <a:avLst/>
                <a:gdLst>
                  <a:gd name="textAreaLeft" fmla="*/ 0 w 3353400"/>
                  <a:gd name="textAreaRight" fmla="*/ 3353760 w 3353400"/>
                  <a:gd name="textAreaTop" fmla="*/ 0 h 1276200"/>
                  <a:gd name="textAreaBottom" fmla="*/ 1276560 h 1276200"/>
                </a:gdLst>
                <a:ahLst/>
                <a:rect l="textAreaLeft" t="textAreaTop" r="textAreaRight" b="textAreaBottom"/>
                <a:pathLst>
                  <a:path w="882773" h="336039">
                    <a:moveTo>
                      <a:pt x="679573" y="0"/>
                    </a:moveTo>
                    <a:cubicBezTo>
                      <a:pt x="791798" y="0"/>
                      <a:pt x="882773" y="75225"/>
                      <a:pt x="882773" y="168020"/>
                    </a:cubicBezTo>
                    <a:cubicBezTo>
                      <a:pt x="882773" y="260814"/>
                      <a:pt x="791798" y="336039"/>
                      <a:pt x="679573" y="336039"/>
                    </a:cubicBezTo>
                    <a:lnTo>
                      <a:pt x="203200" y="336039"/>
                    </a:lnTo>
                    <a:cubicBezTo>
                      <a:pt x="90976" y="336039"/>
                      <a:pt x="0" y="260814"/>
                      <a:pt x="0" y="168020"/>
                    </a:cubicBezTo>
                    <a:cubicBezTo>
                      <a:pt x="0" y="75225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b0afd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5720" rIns="45720" tIns="45000" bIns="45000" anchor="ctr">
                <a:noAutofit/>
              </a:bodyPr>
              <a:p>
                <a:pPr>
                  <a:lnSpc>
                    <a:spcPct val="120000"/>
                  </a:lnSpc>
                  <a:tabLst>
                    <a:tab algn="l" pos="0"/>
                  </a:tabLst>
                </a:pPr>
                <a:endParaRPr b="0" lang="en-IN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91" name="Google Shape;227;p6"/>
              <p:cNvSpPr/>
              <p:nvPr/>
            </p:nvSpPr>
            <p:spPr>
              <a:xfrm rot="8100000">
                <a:off x="-1035720" y="9229320"/>
                <a:ext cx="3353400" cy="13849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5720" rIns="45720" tIns="45000" bIns="45000" anchor="ctr">
                <a:noAutofit/>
              </a:bodyPr>
              <a:p>
                <a:pPr algn="ctr">
                  <a:lnSpc>
                    <a:spcPct val="120000"/>
                  </a:lnSpc>
                  <a:tabLst>
                    <a:tab algn="l" pos="0"/>
                  </a:tabLst>
                </a:pPr>
                <a:endParaRPr b="0" lang="en-IN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</p:grpSp>
      <p:sp>
        <p:nvSpPr>
          <p:cNvPr id="192" name="Google Shape;228;p6"/>
          <p:cNvSpPr/>
          <p:nvPr/>
        </p:nvSpPr>
        <p:spPr>
          <a:xfrm>
            <a:off x="13193280" y="6039000"/>
            <a:ext cx="21276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algn="ctr">
              <a:lnSpc>
                <a:spcPct val="12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b0afd3"/>
                </a:solidFill>
                <a:latin typeface="Arial"/>
                <a:ea typeface="Bricolage Grotesque"/>
              </a:rPr>
              <a:t>4</a:t>
            </a: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3" name="Google Shape;229;p6"/>
          <p:cNvSpPr/>
          <p:nvPr/>
        </p:nvSpPr>
        <p:spPr>
          <a:xfrm>
            <a:off x="8227080" y="1562040"/>
            <a:ext cx="11700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algn="ctr">
              <a:lnSpc>
                <a:spcPct val="12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b0afd3"/>
                </a:solidFill>
                <a:latin typeface="Arial"/>
                <a:ea typeface="Bricolage Grotesque"/>
              </a:rPr>
              <a:t>1</a:t>
            </a: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4" name="Google Shape;230;p6"/>
          <p:cNvSpPr/>
          <p:nvPr/>
        </p:nvSpPr>
        <p:spPr>
          <a:xfrm>
            <a:off x="13197240" y="1562040"/>
            <a:ext cx="20520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algn="ctr">
              <a:lnSpc>
                <a:spcPct val="12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b0afd3"/>
                </a:solidFill>
                <a:latin typeface="Arial"/>
                <a:ea typeface="Bricolage Grotesque"/>
              </a:rPr>
              <a:t>2</a:t>
            </a: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5" name="Google Shape;231;p6"/>
          <p:cNvSpPr/>
          <p:nvPr/>
        </p:nvSpPr>
        <p:spPr>
          <a:xfrm>
            <a:off x="8182440" y="6039000"/>
            <a:ext cx="20628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algn="ctr">
              <a:lnSpc>
                <a:spcPct val="12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b0afd3"/>
                </a:solidFill>
                <a:latin typeface="Arial"/>
                <a:ea typeface="Bricolage Grotesque"/>
              </a:rPr>
              <a:t>3</a:t>
            </a: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f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6" name="Google Shape;236;p7"/>
          <p:cNvGrpSpPr/>
          <p:nvPr/>
        </p:nvGrpSpPr>
        <p:grpSpPr>
          <a:xfrm>
            <a:off x="12891960" y="7359480"/>
            <a:ext cx="4009680" cy="1364760"/>
            <a:chOff x="12891960" y="7359480"/>
            <a:chExt cx="4009680" cy="1364760"/>
          </a:xfrm>
        </p:grpSpPr>
        <p:sp>
          <p:nvSpPr>
            <p:cNvPr id="197" name="Google Shape;237;p7"/>
            <p:cNvSpPr/>
            <p:nvPr/>
          </p:nvSpPr>
          <p:spPr>
            <a:xfrm>
              <a:off x="12891960" y="7359480"/>
              <a:ext cx="4009680" cy="345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5720" rIns="45720" tIns="45000" bIns="45000" anchor="t">
              <a:spAutoFit/>
            </a:bodyPr>
            <a:p>
              <a:pPr algn="ctr">
                <a:lnSpc>
                  <a:spcPct val="120000"/>
                </a:lnSpc>
                <a:tabLst>
                  <a:tab algn="l" pos="0"/>
                </a:tabLst>
              </a:pPr>
              <a:r>
                <a:rPr b="1" lang="en-IN" sz="1400" spc="-1" strike="noStrike">
                  <a:solidFill>
                    <a:srgbClr val="b0afd3"/>
                  </a:solidFill>
                  <a:latin typeface="Arial"/>
                  <a:ea typeface="Arial"/>
                </a:rPr>
                <a:t>90%+ MTTR Reduction</a:t>
              </a:r>
              <a:endParaRPr b="0" lang="en-IN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98" name="Google Shape;238;p7"/>
            <p:cNvSpPr/>
            <p:nvPr/>
          </p:nvSpPr>
          <p:spPr>
            <a:xfrm>
              <a:off x="12891960" y="7866720"/>
              <a:ext cx="4009680" cy="857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5720" rIns="45720" tIns="45000" bIns="45000" anchor="t">
              <a:spAutoFit/>
            </a:bodyPr>
            <a:p>
              <a:pPr algn="ctr">
                <a:lnSpc>
                  <a:spcPct val="120000"/>
                </a:lnSpc>
                <a:tabLst>
                  <a:tab algn="l" pos="0"/>
                </a:tabLst>
              </a:pPr>
              <a:r>
                <a:rPr b="0" lang="en-IN" sz="1400" spc="-1" strike="noStrike">
                  <a:solidFill>
                    <a:srgbClr val="b0afd3"/>
                  </a:solidFill>
                  <a:latin typeface="Arial"/>
                  <a:ea typeface="Arial"/>
                </a:rPr>
                <a:t>Mean Time to Respond (MTTR) to insider anomalies reduced from hours to minutes via automated playbook triggers and instant triage.</a:t>
              </a:r>
              <a:endParaRPr b="0" lang="en-IN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99" name="Google Shape;239;p7"/>
          <p:cNvGrpSpPr/>
          <p:nvPr/>
        </p:nvGrpSpPr>
        <p:grpSpPr>
          <a:xfrm>
            <a:off x="7139160" y="7354080"/>
            <a:ext cx="4587480" cy="1364760"/>
            <a:chOff x="7139160" y="7354080"/>
            <a:chExt cx="4587480" cy="1364760"/>
          </a:xfrm>
        </p:grpSpPr>
        <p:sp>
          <p:nvSpPr>
            <p:cNvPr id="200" name="Google Shape;240;p7"/>
            <p:cNvSpPr/>
            <p:nvPr/>
          </p:nvSpPr>
          <p:spPr>
            <a:xfrm>
              <a:off x="7139160" y="7354080"/>
              <a:ext cx="4587480" cy="345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5720" rIns="45720" tIns="45000" bIns="45000" anchor="t">
              <a:spAutoFit/>
            </a:bodyPr>
            <a:p>
              <a:pPr algn="ctr">
                <a:lnSpc>
                  <a:spcPct val="120000"/>
                </a:lnSpc>
                <a:tabLst>
                  <a:tab algn="l" pos="0"/>
                </a:tabLst>
              </a:pPr>
              <a:r>
                <a:rPr b="1" lang="en-IN" sz="1400" spc="-1" strike="noStrike">
                  <a:solidFill>
                    <a:srgbClr val="b0afd3"/>
                  </a:solidFill>
                  <a:latin typeface="Arial"/>
                  <a:ea typeface="Arial"/>
                </a:rPr>
                <a:t>Automated Threat Triage</a:t>
              </a:r>
              <a:endParaRPr b="0" lang="en-IN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01" name="Google Shape;241;p7"/>
            <p:cNvSpPr/>
            <p:nvPr/>
          </p:nvSpPr>
          <p:spPr>
            <a:xfrm>
              <a:off x="7139160" y="7861320"/>
              <a:ext cx="4009680" cy="857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5720" rIns="45720" tIns="45000" bIns="45000" anchor="t">
              <a:spAutoFit/>
            </a:bodyPr>
            <a:p>
              <a:pPr algn="ctr">
                <a:lnSpc>
                  <a:spcPct val="120000"/>
                </a:lnSpc>
                <a:tabLst>
                  <a:tab algn="l" pos="0"/>
                </a:tabLst>
              </a:pPr>
              <a:r>
                <a:rPr b="0" lang="en-IN" sz="1400" spc="-1" strike="noStrike">
                  <a:solidFill>
                    <a:srgbClr val="b0afd3"/>
                  </a:solidFill>
                  <a:latin typeface="Arial"/>
                  <a:ea typeface="Arial"/>
                </a:rPr>
                <a:t>Automated risk scoring and correlation of 4,500+ security logs with zero manual filtering effort required by analysts.</a:t>
              </a:r>
              <a:endParaRPr b="0" lang="en-IN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02" name="Google Shape;242;p7"/>
          <p:cNvGrpSpPr/>
          <p:nvPr/>
        </p:nvGrpSpPr>
        <p:grpSpPr>
          <a:xfrm>
            <a:off x="1538280" y="7359480"/>
            <a:ext cx="4009680" cy="1364760"/>
            <a:chOff x="1538280" y="7359480"/>
            <a:chExt cx="4009680" cy="1364760"/>
          </a:xfrm>
        </p:grpSpPr>
        <p:sp>
          <p:nvSpPr>
            <p:cNvPr id="203" name="Google Shape;243;p7"/>
            <p:cNvSpPr/>
            <p:nvPr/>
          </p:nvSpPr>
          <p:spPr>
            <a:xfrm>
              <a:off x="1538280" y="7359480"/>
              <a:ext cx="4009680" cy="345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5720" rIns="45720" tIns="45000" bIns="45000" anchor="t">
              <a:spAutoFit/>
            </a:bodyPr>
            <a:p>
              <a:pPr algn="ctr">
                <a:lnSpc>
                  <a:spcPct val="120000"/>
                </a:lnSpc>
                <a:tabLst>
                  <a:tab algn="l" pos="0"/>
                </a:tabLst>
              </a:pPr>
              <a:r>
                <a:rPr b="1" lang="en-IN" sz="1400" spc="-1" strike="noStrike">
                  <a:solidFill>
                    <a:srgbClr val="b0afd3"/>
                  </a:solidFill>
                  <a:latin typeface="Arial"/>
                  <a:ea typeface="Arial"/>
                </a:rPr>
                <a:t>360° Threat Visibility</a:t>
              </a:r>
              <a:endParaRPr b="0" lang="en-IN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04" name="Google Shape;244;p7"/>
            <p:cNvSpPr/>
            <p:nvPr/>
          </p:nvSpPr>
          <p:spPr>
            <a:xfrm>
              <a:off x="1538280" y="7866720"/>
              <a:ext cx="4009680" cy="857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5720" rIns="45720" tIns="45000" bIns="45000" anchor="t">
              <a:spAutoFit/>
            </a:bodyPr>
            <a:p>
              <a:pPr algn="ctr">
                <a:lnSpc>
                  <a:spcPct val="120000"/>
                </a:lnSpc>
                <a:tabLst>
                  <a:tab algn="l" pos="0"/>
                </a:tabLst>
              </a:pPr>
              <a:r>
                <a:rPr b="0" lang="en-IN" sz="1400" spc="-1" strike="noStrike">
                  <a:solidFill>
                    <a:srgbClr val="b0afd3"/>
                  </a:solidFill>
                  <a:latin typeface="Arial"/>
                  <a:ea typeface="Arial"/>
                </a:rPr>
                <a:t>Complete audit trail and continuous visibility into high-risk users, anomalous data exfiltration attempts, and compromised accounts.</a:t>
              </a:r>
              <a:endParaRPr b="0" lang="en-IN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205" name="Google Shape;245;p7"/>
          <p:cNvSpPr/>
          <p:nvPr/>
        </p:nvSpPr>
        <p:spPr>
          <a:xfrm>
            <a:off x="666720" y="800280"/>
            <a:ext cx="16954200" cy="74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1" lang="en-IN" sz="3600" spc="-1" strike="noStrike">
                <a:solidFill>
                  <a:srgbClr val="b0afd3"/>
                </a:solidFill>
                <a:latin typeface="Arial"/>
                <a:ea typeface="Arial"/>
              </a:rPr>
              <a:t>Measurable Outcomes &amp; Security Impact</a:t>
            </a:r>
            <a:endParaRPr b="0" lang="en-IN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6" name="Google Shape;246;p7"/>
          <p:cNvSpPr/>
          <p:nvPr/>
        </p:nvSpPr>
        <p:spPr>
          <a:xfrm>
            <a:off x="666720" y="3352680"/>
            <a:ext cx="5447880" cy="3580920"/>
          </a:xfrm>
          <a:custGeom>
            <a:avLst/>
            <a:gdLst>
              <a:gd name="textAreaLeft" fmla="*/ 0 w 5447880"/>
              <a:gd name="textAreaRight" fmla="*/ 5448240 w 5447880"/>
              <a:gd name="textAreaTop" fmla="*/ 0 h 3580920"/>
              <a:gd name="textAreaBottom" fmla="*/ 3581280 h 3580920"/>
            </a:gdLst>
            <a:ahLst/>
            <a:rect l="textAreaLeft" t="textAreaTop" r="textAreaRight" b="textAreaBottom"/>
            <a:pathLst>
              <a:path w="1631088" h="1072184">
                <a:moveTo>
                  <a:pt x="28420" y="0"/>
                </a:moveTo>
                <a:lnTo>
                  <a:pt x="1602669" y="0"/>
                </a:lnTo>
                <a:cubicBezTo>
                  <a:pt x="1618365" y="0"/>
                  <a:pt x="1631088" y="12724"/>
                  <a:pt x="1631088" y="28420"/>
                </a:cubicBezTo>
                <a:lnTo>
                  <a:pt x="1631088" y="1043764"/>
                </a:lnTo>
                <a:cubicBezTo>
                  <a:pt x="1631088" y="1059460"/>
                  <a:pt x="1618365" y="1072184"/>
                  <a:pt x="1602669" y="1072184"/>
                </a:cubicBezTo>
                <a:lnTo>
                  <a:pt x="28420" y="1072184"/>
                </a:lnTo>
                <a:cubicBezTo>
                  <a:pt x="12724" y="1072184"/>
                  <a:pt x="0" y="1059460"/>
                  <a:pt x="0" y="1043764"/>
                </a:cubicBezTo>
                <a:lnTo>
                  <a:pt x="0" y="28420"/>
                </a:lnTo>
                <a:cubicBezTo>
                  <a:pt x="0" y="12724"/>
                  <a:pt x="12724" y="0"/>
                  <a:pt x="28420" y="0"/>
                </a:cubicBezTo>
                <a:close/>
              </a:path>
            </a:pathLst>
          </a:custGeom>
          <a:blipFill rotWithShape="0">
            <a:blip r:embed="rId1"/>
            <a:srcRect/>
            <a:stretch/>
          </a:blipFill>
          <a:ln cap="sq" w="1905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Google Shape;247;p7"/>
          <p:cNvSpPr/>
          <p:nvPr/>
        </p:nvSpPr>
        <p:spPr>
          <a:xfrm>
            <a:off x="6419880" y="3352680"/>
            <a:ext cx="5447880" cy="3580920"/>
          </a:xfrm>
          <a:custGeom>
            <a:avLst/>
            <a:gdLst>
              <a:gd name="textAreaLeft" fmla="*/ 0 w 5447880"/>
              <a:gd name="textAreaRight" fmla="*/ 5448240 w 5447880"/>
              <a:gd name="textAreaTop" fmla="*/ 0 h 3580920"/>
              <a:gd name="textAreaBottom" fmla="*/ 3581280 h 3580920"/>
            </a:gdLst>
            <a:ahLst/>
            <a:rect l="textAreaLeft" t="textAreaTop" r="textAreaRight" b="textAreaBottom"/>
            <a:pathLst>
              <a:path w="1631088" h="1072184">
                <a:moveTo>
                  <a:pt x="28420" y="0"/>
                </a:moveTo>
                <a:lnTo>
                  <a:pt x="1602669" y="0"/>
                </a:lnTo>
                <a:cubicBezTo>
                  <a:pt x="1618365" y="0"/>
                  <a:pt x="1631088" y="12724"/>
                  <a:pt x="1631088" y="28420"/>
                </a:cubicBezTo>
                <a:lnTo>
                  <a:pt x="1631088" y="1043764"/>
                </a:lnTo>
                <a:cubicBezTo>
                  <a:pt x="1631088" y="1059460"/>
                  <a:pt x="1618365" y="1072184"/>
                  <a:pt x="1602669" y="1072184"/>
                </a:cubicBezTo>
                <a:lnTo>
                  <a:pt x="28420" y="1072184"/>
                </a:lnTo>
                <a:cubicBezTo>
                  <a:pt x="12724" y="1072184"/>
                  <a:pt x="0" y="1059460"/>
                  <a:pt x="0" y="1043764"/>
                </a:cubicBezTo>
                <a:lnTo>
                  <a:pt x="0" y="28420"/>
                </a:lnTo>
                <a:cubicBezTo>
                  <a:pt x="0" y="12724"/>
                  <a:pt x="12724" y="0"/>
                  <a:pt x="28420" y="0"/>
                </a:cubicBezTo>
                <a:close/>
              </a:path>
            </a:pathLst>
          </a:custGeom>
          <a:blipFill rotWithShape="0">
            <a:blip r:embed="rId2"/>
            <a:srcRect/>
            <a:stretch/>
          </a:blipFill>
          <a:ln cap="sq" w="1905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Google Shape;248;p7"/>
          <p:cNvSpPr/>
          <p:nvPr/>
        </p:nvSpPr>
        <p:spPr>
          <a:xfrm>
            <a:off x="12173040" y="3352680"/>
            <a:ext cx="5447880" cy="3580920"/>
          </a:xfrm>
          <a:custGeom>
            <a:avLst/>
            <a:gdLst>
              <a:gd name="textAreaLeft" fmla="*/ 0 w 5447880"/>
              <a:gd name="textAreaRight" fmla="*/ 5448240 w 5447880"/>
              <a:gd name="textAreaTop" fmla="*/ 0 h 3580920"/>
              <a:gd name="textAreaBottom" fmla="*/ 3581280 h 3580920"/>
            </a:gdLst>
            <a:ahLst/>
            <a:rect l="textAreaLeft" t="textAreaTop" r="textAreaRight" b="textAreaBottom"/>
            <a:pathLst>
              <a:path w="1631088" h="1072184">
                <a:moveTo>
                  <a:pt x="28420" y="0"/>
                </a:moveTo>
                <a:lnTo>
                  <a:pt x="1602669" y="0"/>
                </a:lnTo>
                <a:cubicBezTo>
                  <a:pt x="1618365" y="0"/>
                  <a:pt x="1631088" y="12724"/>
                  <a:pt x="1631088" y="28420"/>
                </a:cubicBezTo>
                <a:lnTo>
                  <a:pt x="1631088" y="1043764"/>
                </a:lnTo>
                <a:cubicBezTo>
                  <a:pt x="1631088" y="1059460"/>
                  <a:pt x="1618365" y="1072184"/>
                  <a:pt x="1602669" y="1072184"/>
                </a:cubicBezTo>
                <a:lnTo>
                  <a:pt x="28420" y="1072184"/>
                </a:lnTo>
                <a:cubicBezTo>
                  <a:pt x="12724" y="1072184"/>
                  <a:pt x="0" y="1059460"/>
                  <a:pt x="0" y="1043764"/>
                </a:cubicBezTo>
                <a:lnTo>
                  <a:pt x="0" y="28420"/>
                </a:lnTo>
                <a:cubicBezTo>
                  <a:pt x="0" y="12724"/>
                  <a:pt x="12724" y="0"/>
                  <a:pt x="28420" y="0"/>
                </a:cubicBezTo>
                <a:close/>
              </a:path>
            </a:pathLst>
          </a:custGeom>
          <a:blipFill rotWithShape="0">
            <a:blip r:embed="rId3"/>
            <a:srcRect/>
            <a:stretch/>
          </a:blipFill>
          <a:ln cap="sq" w="1905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f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57;p9"/>
          <p:cNvSpPr/>
          <p:nvPr/>
        </p:nvSpPr>
        <p:spPr>
          <a:xfrm>
            <a:off x="334080" y="6443280"/>
            <a:ext cx="9133920" cy="74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0" lang="en-IN" sz="1800" spc="-1" strike="noStrike">
                <a:solidFill>
                  <a:srgbClr val="b0afd3"/>
                </a:solidFill>
                <a:latin typeface="Arial"/>
                <a:ea typeface="Arial"/>
              </a:rPr>
              <a:t>The live dashboard provides real-time threat monitoring, risk heatmaps, interactive alert triage workflows, and comprehensive audit logs.</a:t>
            </a: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10" name="Picture 257" descr="dashboard_overview_1787137164264.png"/>
          <p:cNvPicPr/>
          <p:nvPr/>
        </p:nvPicPr>
        <p:blipFill>
          <a:blip r:embed="rId1"/>
          <a:stretch/>
        </p:blipFill>
        <p:spPr>
          <a:xfrm>
            <a:off x="457200" y="457200"/>
            <a:ext cx="8412120" cy="4480200"/>
          </a:xfrm>
          <a:prstGeom prst="rect">
            <a:avLst/>
          </a:prstGeom>
          <a:ln w="0">
            <a:noFill/>
          </a:ln>
        </p:spPr>
      </p:pic>
      <p:pic>
        <p:nvPicPr>
          <p:cNvPr id="211" name="Picture 258" descr="ueba_alerts_table_1787137437531.png"/>
          <p:cNvPicPr/>
          <p:nvPr/>
        </p:nvPicPr>
        <p:blipFill>
          <a:blip r:embed="rId2"/>
          <a:stretch/>
        </p:blipFill>
        <p:spPr>
          <a:xfrm>
            <a:off x="9418320" y="457200"/>
            <a:ext cx="8412120" cy="4480200"/>
          </a:xfrm>
          <a:prstGeom prst="rect">
            <a:avLst/>
          </a:prstGeom>
          <a:ln w="0">
            <a:noFill/>
          </a:ln>
        </p:spPr>
      </p:pic>
      <p:pic>
        <p:nvPicPr>
          <p:cNvPr id="212" name="Picture 259" descr="incidents_page_1787137460127.png"/>
          <p:cNvPicPr/>
          <p:nvPr/>
        </p:nvPicPr>
        <p:blipFill>
          <a:blip r:embed="rId3"/>
          <a:stretch/>
        </p:blipFill>
        <p:spPr>
          <a:xfrm>
            <a:off x="457200" y="5303520"/>
            <a:ext cx="8412120" cy="4480200"/>
          </a:xfrm>
          <a:prstGeom prst="rect">
            <a:avLst/>
          </a:prstGeom>
          <a:ln w="0">
            <a:noFill/>
          </a:ln>
        </p:spPr>
      </p:pic>
      <p:pic>
        <p:nvPicPr>
          <p:cNvPr id="213" name="Picture 260" descr="api_documentation_1787137481875.png"/>
          <p:cNvPicPr/>
          <p:nvPr/>
        </p:nvPicPr>
        <p:blipFill>
          <a:blip r:embed="rId4"/>
          <a:stretch/>
        </p:blipFill>
        <p:spPr>
          <a:xfrm>
            <a:off x="9418320" y="5303520"/>
            <a:ext cx="8412120" cy="4480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307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62;p8"/>
          <p:cNvSpPr/>
          <p:nvPr/>
        </p:nvSpPr>
        <p:spPr>
          <a:xfrm>
            <a:off x="9296280" y="800280"/>
            <a:ext cx="6866640" cy="140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1" lang="en-IN" sz="3600" spc="-1" strike="noStrike">
                <a:solidFill>
                  <a:srgbClr val="b0afd3"/>
                </a:solidFill>
                <a:latin typeface="Arial"/>
                <a:ea typeface="Arial"/>
              </a:rPr>
              <a:t>Threat Detection &amp; Mitigation Workflow</a:t>
            </a:r>
            <a:endParaRPr b="0" lang="en-IN" sz="36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215" name="Google Shape;263;p8"/>
          <p:cNvGrpSpPr/>
          <p:nvPr/>
        </p:nvGrpSpPr>
        <p:grpSpPr>
          <a:xfrm>
            <a:off x="9296280" y="3917160"/>
            <a:ext cx="5303520" cy="1549800"/>
            <a:chOff x="9296280" y="3917160"/>
            <a:chExt cx="5303520" cy="1549800"/>
          </a:xfrm>
        </p:grpSpPr>
        <p:sp>
          <p:nvSpPr>
            <p:cNvPr id="216" name="Google Shape;264;p8"/>
            <p:cNvSpPr/>
            <p:nvPr/>
          </p:nvSpPr>
          <p:spPr>
            <a:xfrm>
              <a:off x="9296280" y="3917160"/>
              <a:ext cx="5303520" cy="418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5720" rIns="45720" tIns="45000" bIns="45000" anchor="t">
              <a:spAutoFit/>
            </a:bodyPr>
            <a:p>
              <a:pPr>
                <a:lnSpc>
                  <a:spcPct val="120000"/>
                </a:lnSpc>
                <a:tabLst>
                  <a:tab algn="l" pos="0"/>
                </a:tabLst>
              </a:pPr>
              <a:r>
                <a:rPr b="1" lang="en-IN" sz="1800" spc="-1" strike="noStrike">
                  <a:solidFill>
                    <a:srgbClr val="b0afd3"/>
                  </a:solidFill>
                  <a:latin typeface="Arial"/>
                  <a:ea typeface="Arial"/>
                </a:rPr>
                <a:t>1. Continuous Behavioral Profiling</a:t>
              </a: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17" name="Google Shape;265;p8"/>
            <p:cNvSpPr/>
            <p:nvPr/>
          </p:nvSpPr>
          <p:spPr>
            <a:xfrm>
              <a:off x="9296280" y="4390200"/>
              <a:ext cx="5303520" cy="1076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5720" rIns="45720" tIns="45000" bIns="45000" anchor="t">
              <a:spAutoFit/>
            </a:bodyPr>
            <a:p>
              <a:pPr>
                <a:lnSpc>
                  <a:spcPct val="120000"/>
                </a:lnSpc>
                <a:tabLst>
                  <a:tab algn="l" pos="0"/>
                </a:tabLst>
              </a:pPr>
              <a:r>
                <a:rPr b="0" lang="en-IN" sz="1800" spc="-1" strike="noStrike">
                  <a:solidFill>
                    <a:srgbClr val="b0afd3"/>
                  </a:solidFill>
                  <a:latin typeface="Arial"/>
                  <a:ea typeface="Arial"/>
                </a:rPr>
                <a:t>Ingests user actions, access times, IP addresses, resource requests, and data transfer volumes in real time.</a:t>
              </a: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18" name="Google Shape;266;p8"/>
          <p:cNvGrpSpPr/>
          <p:nvPr/>
        </p:nvGrpSpPr>
        <p:grpSpPr>
          <a:xfrm>
            <a:off x="9296280" y="5707800"/>
            <a:ext cx="5447880" cy="1549800"/>
            <a:chOff x="9296280" y="5707800"/>
            <a:chExt cx="5447880" cy="1549800"/>
          </a:xfrm>
        </p:grpSpPr>
        <p:sp>
          <p:nvSpPr>
            <p:cNvPr id="219" name="Google Shape;267;p8"/>
            <p:cNvSpPr/>
            <p:nvPr/>
          </p:nvSpPr>
          <p:spPr>
            <a:xfrm>
              <a:off x="9296280" y="5707800"/>
              <a:ext cx="5447880" cy="418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5720" rIns="45720" tIns="45000" bIns="45000" anchor="t">
              <a:spAutoFit/>
            </a:bodyPr>
            <a:p>
              <a:pPr>
                <a:lnSpc>
                  <a:spcPct val="120000"/>
                </a:lnSpc>
                <a:tabLst>
                  <a:tab algn="l" pos="0"/>
                </a:tabLst>
              </a:pPr>
              <a:r>
                <a:rPr b="1" lang="en-IN" sz="1800" spc="-1" strike="noStrike">
                  <a:solidFill>
                    <a:srgbClr val="b0afd3"/>
                  </a:solidFill>
                  <a:latin typeface="Arial"/>
                  <a:ea typeface="Arial"/>
                </a:rPr>
                <a:t>2. ML Anomaly Scoring</a:t>
              </a: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20" name="Google Shape;268;p8"/>
            <p:cNvSpPr/>
            <p:nvPr/>
          </p:nvSpPr>
          <p:spPr>
            <a:xfrm>
              <a:off x="9296280" y="6180840"/>
              <a:ext cx="5447880" cy="1076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5720" rIns="45720" tIns="45000" bIns="45000" anchor="t">
              <a:spAutoFit/>
            </a:bodyPr>
            <a:p>
              <a:pPr>
                <a:lnSpc>
                  <a:spcPct val="120000"/>
                </a:lnSpc>
                <a:tabLst>
                  <a:tab algn="l" pos="0"/>
                </a:tabLst>
              </a:pPr>
              <a:r>
                <a:rPr b="0" lang="en-IN" sz="1800" spc="-1" strike="noStrike">
                  <a:solidFill>
                    <a:srgbClr val="b0afd3"/>
                  </a:solidFill>
                  <a:latin typeface="Arial"/>
                  <a:ea typeface="Arial"/>
                </a:rPr>
                <a:t>Isolation Forest and statistical Z-score engines evaluate deviations and update user risk score (0–100).</a:t>
              </a: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21" name="Google Shape;269;p8"/>
          <p:cNvGrpSpPr/>
          <p:nvPr/>
        </p:nvGrpSpPr>
        <p:grpSpPr>
          <a:xfrm>
            <a:off x="9296280" y="7498440"/>
            <a:ext cx="6453720" cy="1549800"/>
            <a:chOff x="9296280" y="7498440"/>
            <a:chExt cx="6453720" cy="1549800"/>
          </a:xfrm>
        </p:grpSpPr>
        <p:sp>
          <p:nvSpPr>
            <p:cNvPr id="222" name="Google Shape;270;p8"/>
            <p:cNvSpPr/>
            <p:nvPr/>
          </p:nvSpPr>
          <p:spPr>
            <a:xfrm>
              <a:off x="9296280" y="7498440"/>
              <a:ext cx="6453720" cy="418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5720" rIns="45720" tIns="45000" bIns="45000" anchor="t">
              <a:spAutoFit/>
            </a:bodyPr>
            <a:p>
              <a:pPr>
                <a:lnSpc>
                  <a:spcPct val="120000"/>
                </a:lnSpc>
                <a:tabLst>
                  <a:tab algn="l" pos="0"/>
                </a:tabLst>
              </a:pPr>
              <a:r>
                <a:rPr b="1" lang="en-IN" sz="1800" spc="-1" strike="noStrike">
                  <a:solidFill>
                    <a:srgbClr val="b0afd3"/>
                  </a:solidFill>
                  <a:latin typeface="Arial"/>
                  <a:ea typeface="Arial"/>
                </a:rPr>
                <a:t>3. Automated Playbook Execution</a:t>
              </a: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23" name="Google Shape;271;p8"/>
            <p:cNvSpPr/>
            <p:nvPr/>
          </p:nvSpPr>
          <p:spPr>
            <a:xfrm>
              <a:off x="9296280" y="7971480"/>
              <a:ext cx="5447880" cy="1076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5720" rIns="45720" tIns="45000" bIns="45000" anchor="t">
              <a:spAutoFit/>
            </a:bodyPr>
            <a:p>
              <a:pPr>
                <a:lnSpc>
                  <a:spcPct val="120000"/>
                </a:lnSpc>
                <a:tabLst>
                  <a:tab algn="l" pos="0"/>
                </a:tabLst>
              </a:pPr>
              <a:r>
                <a:rPr b="0" lang="en-IN" sz="1800" spc="-1" strike="noStrike">
                  <a:solidFill>
                    <a:srgbClr val="b0afd3"/>
                  </a:solidFill>
                  <a:latin typeface="Arial"/>
                  <a:ea typeface="Arial"/>
                </a:rPr>
                <a:t>SOC analysts review contextual alerts and execute mitigation playbooks (Lock Account, Force MFA, Revoke Sessions).</a:t>
              </a:r>
              <a:endParaRPr b="0" lang="en-IN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224" name="Google Shape;272;p8"/>
          <p:cNvSpPr/>
          <p:nvPr/>
        </p:nvSpPr>
        <p:spPr>
          <a:xfrm>
            <a:off x="-282240" y="-295920"/>
            <a:ext cx="8140320" cy="10878120"/>
          </a:xfrm>
          <a:custGeom>
            <a:avLst/>
            <a:gdLst>
              <a:gd name="textAreaLeft" fmla="*/ 0 w 8140320"/>
              <a:gd name="textAreaRight" fmla="*/ 8140680 w 8140320"/>
              <a:gd name="textAreaTop" fmla="*/ 0 h 10878120"/>
              <a:gd name="textAreaBottom" fmla="*/ 10878480 h 10878120"/>
            </a:gdLst>
            <a:ahLst/>
            <a:rect l="textAreaLeft" t="textAreaTop" r="textAreaRight" b="textAreaBottom"/>
            <a:pathLst>
              <a:path w="1261182" h="1685373">
                <a:moveTo>
                  <a:pt x="19021" y="0"/>
                </a:moveTo>
                <a:lnTo>
                  <a:pt x="1242161" y="0"/>
                </a:lnTo>
                <a:cubicBezTo>
                  <a:pt x="1252666" y="0"/>
                  <a:pt x="1261182" y="8516"/>
                  <a:pt x="1261182" y="19021"/>
                </a:cubicBezTo>
                <a:lnTo>
                  <a:pt x="1261182" y="1666352"/>
                </a:lnTo>
                <a:cubicBezTo>
                  <a:pt x="1261182" y="1676857"/>
                  <a:pt x="1252666" y="1685373"/>
                  <a:pt x="1242161" y="1685373"/>
                </a:cubicBezTo>
                <a:lnTo>
                  <a:pt x="19021" y="1685373"/>
                </a:lnTo>
                <a:cubicBezTo>
                  <a:pt x="13976" y="1685373"/>
                  <a:pt x="9138" y="1683369"/>
                  <a:pt x="5571" y="1679802"/>
                </a:cubicBezTo>
                <a:cubicBezTo>
                  <a:pt x="2004" y="1676235"/>
                  <a:pt x="0" y="1671396"/>
                  <a:pt x="0" y="1666352"/>
                </a:cubicBezTo>
                <a:lnTo>
                  <a:pt x="0" y="19021"/>
                </a:lnTo>
                <a:cubicBezTo>
                  <a:pt x="0" y="8516"/>
                  <a:pt x="8516" y="0"/>
                  <a:pt x="19021" y="0"/>
                </a:cubicBezTo>
                <a:close/>
              </a:path>
            </a:pathLst>
          </a:custGeom>
          <a:blipFill rotWithShape="0">
            <a:blip r:embed="rId1"/>
            <a:srcRect/>
            <a:stretch/>
          </a:blipFill>
          <a:ln cap="sq" w="1905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25" name="Google Shape;273;p8"/>
          <p:cNvGrpSpPr/>
          <p:nvPr/>
        </p:nvGrpSpPr>
        <p:grpSpPr>
          <a:xfrm>
            <a:off x="15557760" y="6934320"/>
            <a:ext cx="3479400" cy="4575600"/>
            <a:chOff x="15557760" y="6934320"/>
            <a:chExt cx="3479400" cy="4575600"/>
          </a:xfrm>
        </p:grpSpPr>
        <p:grpSp>
          <p:nvGrpSpPr>
            <p:cNvPr id="226" name="Google Shape;274;p8"/>
            <p:cNvGrpSpPr/>
            <p:nvPr/>
          </p:nvGrpSpPr>
          <p:grpSpPr>
            <a:xfrm>
              <a:off x="15708960" y="6934320"/>
              <a:ext cx="3328200" cy="3328200"/>
              <a:chOff x="15708960" y="6934320"/>
              <a:chExt cx="3328200" cy="3328200"/>
            </a:xfrm>
          </p:grpSpPr>
          <p:sp>
            <p:nvSpPr>
              <p:cNvPr id="227" name="Google Shape;275;p8"/>
              <p:cNvSpPr/>
              <p:nvPr/>
            </p:nvSpPr>
            <p:spPr>
              <a:xfrm rot="8100000">
                <a:off x="15669000" y="7926120"/>
                <a:ext cx="3331080" cy="1267920"/>
              </a:xfrm>
              <a:custGeom>
                <a:avLst/>
                <a:gdLst>
                  <a:gd name="textAreaLeft" fmla="*/ 0 w 3331080"/>
                  <a:gd name="textAreaRight" fmla="*/ 3331440 w 3331080"/>
                  <a:gd name="textAreaTop" fmla="*/ 0 h 1267920"/>
                  <a:gd name="textAreaBottom" fmla="*/ 1268280 h 1267920"/>
                </a:gdLst>
                <a:ahLst/>
                <a:rect l="textAreaLeft" t="textAreaTop" r="textAreaRight" b="textAreaBottom"/>
                <a:pathLst>
                  <a:path w="882773" h="336039">
                    <a:moveTo>
                      <a:pt x="679573" y="0"/>
                    </a:moveTo>
                    <a:cubicBezTo>
                      <a:pt x="791798" y="0"/>
                      <a:pt x="882773" y="75225"/>
                      <a:pt x="882773" y="168020"/>
                    </a:cubicBezTo>
                    <a:cubicBezTo>
                      <a:pt x="882773" y="260814"/>
                      <a:pt x="791798" y="336039"/>
                      <a:pt x="679573" y="336039"/>
                    </a:cubicBezTo>
                    <a:lnTo>
                      <a:pt x="203200" y="336039"/>
                    </a:lnTo>
                    <a:cubicBezTo>
                      <a:pt x="90976" y="336039"/>
                      <a:pt x="0" y="260814"/>
                      <a:pt x="0" y="168020"/>
                    </a:cubicBezTo>
                    <a:cubicBezTo>
                      <a:pt x="0" y="75225"/>
                      <a:pt x="90976" y="0"/>
                      <a:pt x="203200" y="0"/>
                    </a:cubicBezTo>
                    <a:close/>
                  </a:path>
                </a:pathLst>
              </a:custGeom>
              <a:noFill/>
              <a:ln cap="sq" w="19050">
                <a:solidFill>
                  <a:srgbClr val="d4f592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5720" rIns="45720" tIns="45000" bIns="45000" anchor="ctr">
                <a:noAutofit/>
              </a:bodyPr>
              <a:p>
                <a:pPr>
                  <a:lnSpc>
                    <a:spcPct val="120000"/>
                  </a:lnSpc>
                  <a:tabLst>
                    <a:tab algn="l" pos="0"/>
                  </a:tabLst>
                </a:pPr>
                <a:endParaRPr b="0" lang="en-IN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228" name="Google Shape;276;p8"/>
              <p:cNvSpPr/>
              <p:nvPr/>
            </p:nvSpPr>
            <p:spPr>
              <a:xfrm rot="8100000">
                <a:off x="15707520" y="7910640"/>
                <a:ext cx="3331080" cy="13755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5720" rIns="45720" tIns="45000" bIns="45000" anchor="ctr">
                <a:noAutofit/>
              </a:bodyPr>
              <a:p>
                <a:pPr algn="ctr">
                  <a:lnSpc>
                    <a:spcPct val="120000"/>
                  </a:lnSpc>
                  <a:tabLst>
                    <a:tab algn="l" pos="0"/>
                  </a:tabLst>
                </a:pPr>
                <a:endParaRPr b="0" lang="en-IN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229" name="Google Shape;277;p8"/>
            <p:cNvGrpSpPr/>
            <p:nvPr/>
          </p:nvGrpSpPr>
          <p:grpSpPr>
            <a:xfrm>
              <a:off x="15557760" y="8184960"/>
              <a:ext cx="3324960" cy="3324960"/>
              <a:chOff x="15557760" y="8184960"/>
              <a:chExt cx="3324960" cy="3324960"/>
            </a:xfrm>
          </p:grpSpPr>
          <p:sp>
            <p:nvSpPr>
              <p:cNvPr id="230" name="Google Shape;278;p8"/>
              <p:cNvSpPr/>
              <p:nvPr/>
            </p:nvSpPr>
            <p:spPr>
              <a:xfrm rot="8100000">
                <a:off x="15517800" y="9183600"/>
                <a:ext cx="3353400" cy="1276200"/>
              </a:xfrm>
              <a:custGeom>
                <a:avLst/>
                <a:gdLst>
                  <a:gd name="textAreaLeft" fmla="*/ 0 w 3353400"/>
                  <a:gd name="textAreaRight" fmla="*/ 3353760 w 3353400"/>
                  <a:gd name="textAreaTop" fmla="*/ 0 h 1276200"/>
                  <a:gd name="textAreaBottom" fmla="*/ 1276560 h 1276200"/>
                </a:gdLst>
                <a:ahLst/>
                <a:rect l="textAreaLeft" t="textAreaTop" r="textAreaRight" b="textAreaBottom"/>
                <a:pathLst>
                  <a:path w="882773" h="336039">
                    <a:moveTo>
                      <a:pt x="679573" y="0"/>
                    </a:moveTo>
                    <a:cubicBezTo>
                      <a:pt x="791798" y="0"/>
                      <a:pt x="882773" y="75225"/>
                      <a:pt x="882773" y="168020"/>
                    </a:cubicBezTo>
                    <a:cubicBezTo>
                      <a:pt x="882773" y="260814"/>
                      <a:pt x="791798" y="336039"/>
                      <a:pt x="679573" y="336039"/>
                    </a:cubicBezTo>
                    <a:lnTo>
                      <a:pt x="203200" y="336039"/>
                    </a:lnTo>
                    <a:cubicBezTo>
                      <a:pt x="90976" y="336039"/>
                      <a:pt x="0" y="260814"/>
                      <a:pt x="0" y="168020"/>
                    </a:cubicBezTo>
                    <a:cubicBezTo>
                      <a:pt x="0" y="75225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b0afd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5720" rIns="45720" tIns="45000" bIns="45000" anchor="ctr">
                <a:noAutofit/>
              </a:bodyPr>
              <a:p>
                <a:pPr>
                  <a:lnSpc>
                    <a:spcPct val="120000"/>
                  </a:lnSpc>
                  <a:tabLst>
                    <a:tab algn="l" pos="0"/>
                  </a:tabLst>
                </a:pPr>
                <a:endParaRPr b="0" lang="en-IN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31" name="Google Shape;279;p8"/>
              <p:cNvSpPr/>
              <p:nvPr/>
            </p:nvSpPr>
            <p:spPr>
              <a:xfrm rot="8100000">
                <a:off x="15543360" y="9172800"/>
                <a:ext cx="3353400" cy="13485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5720" rIns="45720" tIns="45000" bIns="45000" anchor="ctr">
                <a:noAutofit/>
              </a:bodyPr>
              <a:p>
                <a:pPr algn="ctr">
                  <a:lnSpc>
                    <a:spcPct val="120000"/>
                  </a:lnSpc>
                  <a:tabLst>
                    <a:tab algn="l" pos="0"/>
                  </a:tabLst>
                </a:pPr>
                <a:endParaRPr b="0" lang="en-IN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f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2" name="Google Shape;284;p10"/>
          <p:cNvGrpSpPr/>
          <p:nvPr/>
        </p:nvGrpSpPr>
        <p:grpSpPr>
          <a:xfrm>
            <a:off x="12891960" y="7291800"/>
            <a:ext cx="4009680" cy="2971440"/>
            <a:chOff x="12891960" y="7291800"/>
            <a:chExt cx="4009680" cy="2971440"/>
          </a:xfrm>
        </p:grpSpPr>
        <p:sp>
          <p:nvSpPr>
            <p:cNvPr id="233" name="Google Shape;285;p10"/>
            <p:cNvSpPr/>
            <p:nvPr/>
          </p:nvSpPr>
          <p:spPr>
            <a:xfrm>
              <a:off x="12891960" y="7291800"/>
              <a:ext cx="4009680" cy="327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5720" rIns="45720" tIns="45000" bIns="45000" anchor="t">
              <a:spAutoFit/>
            </a:bodyPr>
            <a:p>
              <a:pPr algn="ctr">
                <a:lnSpc>
                  <a:spcPct val="120000"/>
                </a:lnSpc>
                <a:tabLst>
                  <a:tab algn="l" pos="0"/>
                </a:tabLst>
              </a:pPr>
              <a:r>
                <a:rPr b="1" lang="en-IN" sz="1300" spc="-1" strike="noStrike">
                  <a:solidFill>
                    <a:srgbClr val="b0afd3"/>
                  </a:solidFill>
                  <a:latin typeface="Arial"/>
                  <a:ea typeface="Arial"/>
                </a:rPr>
                <a:t>GenAI Incident Explainer &amp; Summaries</a:t>
              </a:r>
              <a:endParaRPr b="0" lang="en-IN" sz="13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34" name="Google Shape;286;p10"/>
            <p:cNvSpPr/>
            <p:nvPr/>
          </p:nvSpPr>
          <p:spPr>
            <a:xfrm>
              <a:off x="12891960" y="7690320"/>
              <a:ext cx="4009680" cy="257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5720" rIns="45720" tIns="45000" bIns="45000" anchor="t">
              <a:spAutoFit/>
            </a:bodyPr>
            <a:p>
              <a:pPr lvl="1" marL="321840" indent="-160920" algn="ctr">
                <a:lnSpc>
                  <a:spcPct val="120000"/>
                </a:lnSpc>
                <a:buClr>
                  <a:srgbClr val="b0afd3"/>
                </a:buClr>
                <a:buFont typeface="Arial"/>
                <a:buChar char="•"/>
              </a:pPr>
              <a:r>
                <a:rPr b="0" lang="en-IN" sz="1300" spc="-1" strike="noStrike">
                  <a:solidFill>
                    <a:srgbClr val="b0afd3"/>
                  </a:solidFill>
                  <a:latin typeface="Arial"/>
                  <a:ea typeface="Arial"/>
                </a:rPr>
                <a:t>Integrate LLM-powered threat explainer to automatically generate natural language incident summaries.</a:t>
              </a:r>
              <a:endParaRPr b="0" lang="en-IN" sz="1300" spc="-1" strike="noStrike">
                <a:solidFill>
                  <a:srgbClr val="ffffff"/>
                </a:solidFill>
                <a:latin typeface="Arial"/>
              </a:endParaRPr>
            </a:p>
            <a:p>
              <a:pPr lvl="1" marL="321840" indent="-160920" algn="ctr">
                <a:lnSpc>
                  <a:spcPct val="120000"/>
                </a:lnSpc>
                <a:buClr>
                  <a:srgbClr val="b0afd3"/>
                </a:buClr>
                <a:buFont typeface="Arial"/>
                <a:buChar char="•"/>
              </a:pPr>
              <a:r>
                <a:rPr b="0" lang="en-IN" sz="1300" spc="-1" strike="noStrike">
                  <a:solidFill>
                    <a:srgbClr val="b0afd3"/>
                  </a:solidFill>
                  <a:latin typeface="Arial"/>
                  <a:ea typeface="Arial"/>
                </a:rPr>
                <a:t>Automated root-cause analysis highlighting key behavioral anomalies and affected resources.</a:t>
              </a:r>
              <a:endParaRPr b="0" lang="en-IN" sz="1300" spc="-1" strike="noStrike">
                <a:solidFill>
                  <a:srgbClr val="ffffff"/>
                </a:solidFill>
                <a:latin typeface="Arial"/>
              </a:endParaRPr>
            </a:p>
            <a:p>
              <a:pPr lvl="1" marL="321840" indent="-160920" algn="ctr">
                <a:lnSpc>
                  <a:spcPct val="120000"/>
                </a:lnSpc>
                <a:buClr>
                  <a:srgbClr val="b0afd3"/>
                </a:buClr>
                <a:buFont typeface="Arial"/>
                <a:buChar char="•"/>
              </a:pPr>
              <a:r>
                <a:rPr b="0" lang="en-IN" sz="1300" spc="-1" strike="noStrike">
                  <a:solidFill>
                    <a:srgbClr val="b0afd3"/>
                  </a:solidFill>
                  <a:latin typeface="Arial"/>
                  <a:ea typeface="Arial"/>
                </a:rPr>
                <a:t>Instant recommendation of custom mitigation strategies tailored to specific threat vectors.</a:t>
              </a:r>
              <a:endParaRPr b="0" lang="en-IN" sz="1300" spc="-1" strike="noStrike">
                <a:solidFill>
                  <a:srgbClr val="ffffff"/>
                </a:solidFill>
                <a:latin typeface="Arial"/>
              </a:endParaRPr>
            </a:p>
            <a:p>
              <a:pPr algn="ctr">
                <a:lnSpc>
                  <a:spcPct val="120000"/>
                </a:lnSpc>
                <a:tabLst>
                  <a:tab algn="l" pos="0"/>
                </a:tabLst>
              </a:pPr>
              <a:endParaRPr b="0" lang="en-IN" sz="1490" spc="-1" strike="noStrike">
                <a:solidFill>
                  <a:srgbClr val="ffffff"/>
                </a:solidFill>
                <a:latin typeface="Arial"/>
              </a:endParaRPr>
            </a:p>
            <a:p>
              <a:pPr algn="ctr">
                <a:lnSpc>
                  <a:spcPct val="120000"/>
                </a:lnSpc>
                <a:tabLst>
                  <a:tab algn="l" pos="0"/>
                </a:tabLst>
              </a:pPr>
              <a:endParaRPr b="0" lang="en-IN" sz="1490" spc="-1" strike="noStrike">
                <a:solidFill>
                  <a:srgbClr val="ffffff"/>
                </a:solidFill>
                <a:latin typeface="Arial"/>
              </a:endParaRPr>
            </a:p>
            <a:p>
              <a:pPr algn="ctr">
                <a:lnSpc>
                  <a:spcPct val="120000"/>
                </a:lnSpc>
                <a:tabLst>
                  <a:tab algn="l" pos="0"/>
                </a:tabLst>
              </a:pPr>
              <a:endParaRPr b="0" lang="en-IN" sz="149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35" name="Google Shape;287;p10"/>
          <p:cNvGrpSpPr/>
          <p:nvPr/>
        </p:nvGrpSpPr>
        <p:grpSpPr>
          <a:xfrm>
            <a:off x="7139160" y="7291800"/>
            <a:ext cx="4009680" cy="2917440"/>
            <a:chOff x="7139160" y="7291800"/>
            <a:chExt cx="4009680" cy="2917440"/>
          </a:xfrm>
        </p:grpSpPr>
        <p:sp>
          <p:nvSpPr>
            <p:cNvPr id="236" name="Google Shape;288;p10"/>
            <p:cNvSpPr/>
            <p:nvPr/>
          </p:nvSpPr>
          <p:spPr>
            <a:xfrm>
              <a:off x="7139160" y="7291800"/>
              <a:ext cx="4009680" cy="327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5720" rIns="45720" tIns="45000" bIns="45000" anchor="t">
              <a:spAutoFit/>
            </a:bodyPr>
            <a:p>
              <a:pPr algn="ctr">
                <a:lnSpc>
                  <a:spcPct val="120000"/>
                </a:lnSpc>
                <a:tabLst>
                  <a:tab algn="l" pos="0"/>
                </a:tabLst>
              </a:pPr>
              <a:r>
                <a:rPr b="1" lang="en-IN" sz="1300" spc="-1" strike="noStrike">
                  <a:solidFill>
                    <a:srgbClr val="b0afd3"/>
                  </a:solidFill>
                  <a:latin typeface="Arial"/>
                  <a:ea typeface="Arial"/>
                </a:rPr>
                <a:t>Graph Neural Network Peer Grouping</a:t>
              </a:r>
              <a:endParaRPr b="0" lang="en-IN" sz="13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37" name="Google Shape;289;p10"/>
            <p:cNvSpPr/>
            <p:nvPr/>
          </p:nvSpPr>
          <p:spPr>
            <a:xfrm>
              <a:off x="7139160" y="7670880"/>
              <a:ext cx="4009680" cy="2538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5720" rIns="45720" tIns="45000" bIns="45000" anchor="t">
              <a:spAutoFit/>
            </a:bodyPr>
            <a:p>
              <a:pPr lvl="1" marL="321840" indent="-160920" algn="ctr">
                <a:lnSpc>
                  <a:spcPct val="120000"/>
                </a:lnSpc>
                <a:buClr>
                  <a:srgbClr val="b0afd3"/>
                </a:buClr>
                <a:buFont typeface="Arial"/>
                <a:buChar char="•"/>
              </a:pPr>
              <a:r>
                <a:rPr b="0" lang="en-IN" sz="1300" spc="-1" strike="noStrike">
                  <a:solidFill>
                    <a:srgbClr val="b0afd3"/>
                  </a:solidFill>
                  <a:latin typeface="Arial"/>
                  <a:ea typeface="Arial"/>
                </a:rPr>
                <a:t>Deploy unsupervised graph clustering to automatically segment users into behavioral peer groups.</a:t>
              </a:r>
              <a:endParaRPr b="0" lang="en-IN" sz="1300" spc="-1" strike="noStrike">
                <a:solidFill>
                  <a:srgbClr val="ffffff"/>
                </a:solidFill>
                <a:latin typeface="Arial"/>
              </a:endParaRPr>
            </a:p>
            <a:p>
              <a:pPr lvl="1" marL="321840" indent="-160920" algn="ctr">
                <a:lnSpc>
                  <a:spcPct val="120000"/>
                </a:lnSpc>
                <a:buClr>
                  <a:srgbClr val="b0afd3"/>
                </a:buClr>
                <a:buFont typeface="Arial"/>
                <a:buChar char="•"/>
              </a:pPr>
              <a:r>
                <a:rPr b="0" lang="en-IN" sz="1300" spc="-1" strike="noStrike">
                  <a:solidFill>
                    <a:srgbClr val="b0afd3"/>
                  </a:solidFill>
                  <a:latin typeface="Arial"/>
                  <a:ea typeface="Arial"/>
                </a:rPr>
                <a:t>Correlate cross-department anomalies to detect lateral movement and coordinated multi-account threats.</a:t>
              </a:r>
              <a:endParaRPr b="0" lang="en-IN" sz="1300" spc="-1" strike="noStrike">
                <a:solidFill>
                  <a:srgbClr val="ffffff"/>
                </a:solidFill>
                <a:latin typeface="Arial"/>
              </a:endParaRPr>
            </a:p>
            <a:p>
              <a:pPr lvl="1" marL="321840" indent="-160920" algn="ctr">
                <a:lnSpc>
                  <a:spcPct val="120000"/>
                </a:lnSpc>
                <a:buClr>
                  <a:srgbClr val="b0afd3"/>
                </a:buClr>
                <a:buFont typeface="Arial"/>
                <a:buChar char="•"/>
              </a:pPr>
              <a:r>
                <a:rPr b="0" lang="en-IN" sz="1300" spc="-1" strike="noStrike">
                  <a:solidFill>
                    <a:srgbClr val="b0afd3"/>
                  </a:solidFill>
                  <a:latin typeface="Arial"/>
                  <a:ea typeface="Arial"/>
                </a:rPr>
                <a:t>Dynamic baseline adjustment based on seasonal organization projects and department shifts.</a:t>
              </a:r>
              <a:endParaRPr b="0" lang="en-IN" sz="1300" spc="-1" strike="noStrike">
                <a:solidFill>
                  <a:srgbClr val="ffffff"/>
                </a:solidFill>
                <a:latin typeface="Arial"/>
              </a:endParaRPr>
            </a:p>
            <a:p>
              <a:pPr algn="ctr">
                <a:lnSpc>
                  <a:spcPct val="120000"/>
                </a:lnSpc>
                <a:tabLst>
                  <a:tab algn="l" pos="0"/>
                </a:tabLst>
              </a:pPr>
              <a:endParaRPr b="0" lang="en-IN" sz="1490" spc="-1" strike="noStrike">
                <a:solidFill>
                  <a:srgbClr val="ffffff"/>
                </a:solidFill>
                <a:latin typeface="Arial"/>
              </a:endParaRPr>
            </a:p>
            <a:p>
              <a:pPr algn="ctr">
                <a:lnSpc>
                  <a:spcPct val="120000"/>
                </a:lnSpc>
                <a:tabLst>
                  <a:tab algn="l" pos="0"/>
                </a:tabLst>
              </a:pPr>
              <a:endParaRPr b="0" lang="en-IN" sz="149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38" name="Google Shape;290;p10"/>
          <p:cNvGrpSpPr/>
          <p:nvPr/>
        </p:nvGrpSpPr>
        <p:grpSpPr>
          <a:xfrm>
            <a:off x="1059120" y="7289280"/>
            <a:ext cx="5055480" cy="2647440"/>
            <a:chOff x="1059120" y="7289280"/>
            <a:chExt cx="5055480" cy="2647440"/>
          </a:xfrm>
        </p:grpSpPr>
        <p:sp>
          <p:nvSpPr>
            <p:cNvPr id="239" name="Google Shape;291;p10"/>
            <p:cNvSpPr/>
            <p:nvPr/>
          </p:nvSpPr>
          <p:spPr>
            <a:xfrm>
              <a:off x="1059120" y="7289280"/>
              <a:ext cx="5055480" cy="327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5720" rIns="45720" tIns="45000" bIns="45000" anchor="t">
              <a:spAutoFit/>
            </a:bodyPr>
            <a:p>
              <a:pPr algn="ctr">
                <a:lnSpc>
                  <a:spcPct val="120000"/>
                </a:lnSpc>
                <a:tabLst>
                  <a:tab algn="l" pos="0"/>
                </a:tabLst>
              </a:pPr>
              <a:r>
                <a:rPr b="1" lang="en-IN" sz="1300" spc="-1" strike="noStrike">
                  <a:solidFill>
                    <a:srgbClr val="b0afd3"/>
                  </a:solidFill>
                  <a:latin typeface="Arial"/>
                  <a:ea typeface="Arial"/>
                </a:rPr>
                <a:t>Enterprise SIEM &amp; SOAR Connectors</a:t>
              </a:r>
              <a:endParaRPr b="0" lang="en-IN" sz="13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40" name="Google Shape;292;p10"/>
            <p:cNvSpPr/>
            <p:nvPr/>
          </p:nvSpPr>
          <p:spPr>
            <a:xfrm>
              <a:off x="1544040" y="7670880"/>
              <a:ext cx="3693240" cy="2265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5720" rIns="45720" tIns="45000" bIns="45000" anchor="t">
              <a:spAutoFit/>
            </a:bodyPr>
            <a:p>
              <a:pPr lvl="1" marL="321840" indent="-160920" algn="ctr">
                <a:lnSpc>
                  <a:spcPct val="120000"/>
                </a:lnSpc>
                <a:buClr>
                  <a:srgbClr val="b0afd3"/>
                </a:buClr>
                <a:buFont typeface="Arial"/>
                <a:buChar char="•"/>
              </a:pPr>
              <a:r>
                <a:rPr b="0" lang="en-IN" sz="1300" spc="-1" strike="noStrike">
                  <a:solidFill>
                    <a:srgbClr val="b0afd3"/>
                  </a:solidFill>
                  <a:latin typeface="Arial"/>
                  <a:ea typeface="Arial"/>
                </a:rPr>
                <a:t>Native integration adapters for Splunk, Microsoft Sentinel, and IBM QRadar ecosystems.</a:t>
              </a:r>
              <a:endParaRPr b="0" lang="en-IN" sz="1300" spc="-1" strike="noStrike">
                <a:solidFill>
                  <a:srgbClr val="ffffff"/>
                </a:solidFill>
                <a:latin typeface="Arial"/>
              </a:endParaRPr>
            </a:p>
            <a:p>
              <a:pPr lvl="1" marL="321840" indent="-160920" algn="ctr">
                <a:lnSpc>
                  <a:spcPct val="120000"/>
                </a:lnSpc>
                <a:buClr>
                  <a:srgbClr val="b0afd3"/>
                </a:buClr>
                <a:buFont typeface="Arial"/>
                <a:buChar char="•"/>
              </a:pPr>
              <a:r>
                <a:rPr b="0" lang="en-IN" sz="1300" spc="-1" strike="noStrike">
                  <a:solidFill>
                    <a:srgbClr val="b0afd3"/>
                  </a:solidFill>
                  <a:latin typeface="Arial"/>
                  <a:ea typeface="Arial"/>
                </a:rPr>
                <a:t>Automated bi-directional alert synchronization and ticket generation in ServiceNow &amp; Jira Security.</a:t>
              </a:r>
              <a:endParaRPr b="0" lang="en-IN" sz="1300" spc="-1" strike="noStrike">
                <a:solidFill>
                  <a:srgbClr val="ffffff"/>
                </a:solidFill>
                <a:latin typeface="Arial"/>
              </a:endParaRPr>
            </a:p>
            <a:p>
              <a:pPr lvl="1" marL="321840" indent="-160920" algn="ctr">
                <a:lnSpc>
                  <a:spcPct val="120000"/>
                </a:lnSpc>
                <a:buClr>
                  <a:srgbClr val="b0afd3"/>
                </a:buClr>
                <a:buFont typeface="Arial"/>
                <a:buChar char="•"/>
              </a:pPr>
              <a:r>
                <a:rPr b="0" lang="en-IN" sz="1300" spc="-1" strike="noStrike">
                  <a:solidFill>
                    <a:srgbClr val="b0afd3"/>
                  </a:solidFill>
                  <a:latin typeface="Arial"/>
                  <a:ea typeface="Arial"/>
                </a:rPr>
                <a:t>Standardized STIX/TAXII threat intelligence format exporting for industry compliance.</a:t>
              </a:r>
              <a:endParaRPr b="0" lang="en-IN" sz="1300" spc="-1" strike="noStrike">
                <a:solidFill>
                  <a:srgbClr val="ffffff"/>
                </a:solidFill>
                <a:latin typeface="Arial"/>
              </a:endParaRPr>
            </a:p>
            <a:p>
              <a:pPr algn="ctr">
                <a:lnSpc>
                  <a:spcPct val="120000"/>
                </a:lnSpc>
                <a:tabLst>
                  <a:tab algn="l" pos="0"/>
                </a:tabLst>
              </a:pPr>
              <a:endParaRPr b="0" lang="en-IN" sz="149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241" name="Google Shape;293;p10"/>
          <p:cNvSpPr/>
          <p:nvPr/>
        </p:nvSpPr>
        <p:spPr>
          <a:xfrm>
            <a:off x="666720" y="800280"/>
            <a:ext cx="16954200" cy="74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1" lang="en-IN" sz="3600" spc="-1" strike="noStrike">
                <a:solidFill>
                  <a:srgbClr val="b0afd3"/>
                </a:solidFill>
                <a:latin typeface="Arial"/>
                <a:ea typeface="Arial"/>
              </a:rPr>
              <a:t>Future Roadmap &amp; AI Enhancements</a:t>
            </a:r>
            <a:endParaRPr b="0" lang="en-IN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2" name="Google Shape;294;p10"/>
          <p:cNvSpPr/>
          <p:nvPr/>
        </p:nvSpPr>
        <p:spPr>
          <a:xfrm>
            <a:off x="666720" y="3352680"/>
            <a:ext cx="5447880" cy="3580920"/>
          </a:xfrm>
          <a:custGeom>
            <a:avLst/>
            <a:gdLst>
              <a:gd name="textAreaLeft" fmla="*/ 0 w 5447880"/>
              <a:gd name="textAreaRight" fmla="*/ 5448240 w 5447880"/>
              <a:gd name="textAreaTop" fmla="*/ 0 h 3580920"/>
              <a:gd name="textAreaBottom" fmla="*/ 3581280 h 3580920"/>
            </a:gdLst>
            <a:ahLst/>
            <a:rect l="textAreaLeft" t="textAreaTop" r="textAreaRight" b="textAreaBottom"/>
            <a:pathLst>
              <a:path w="1631088" h="1072184">
                <a:moveTo>
                  <a:pt x="28420" y="0"/>
                </a:moveTo>
                <a:lnTo>
                  <a:pt x="1602669" y="0"/>
                </a:lnTo>
                <a:cubicBezTo>
                  <a:pt x="1618365" y="0"/>
                  <a:pt x="1631088" y="12724"/>
                  <a:pt x="1631088" y="28420"/>
                </a:cubicBezTo>
                <a:lnTo>
                  <a:pt x="1631088" y="1043764"/>
                </a:lnTo>
                <a:cubicBezTo>
                  <a:pt x="1631088" y="1059460"/>
                  <a:pt x="1618365" y="1072184"/>
                  <a:pt x="1602669" y="1072184"/>
                </a:cubicBezTo>
                <a:lnTo>
                  <a:pt x="28420" y="1072184"/>
                </a:lnTo>
                <a:cubicBezTo>
                  <a:pt x="12724" y="1072184"/>
                  <a:pt x="0" y="1059460"/>
                  <a:pt x="0" y="1043764"/>
                </a:cubicBezTo>
                <a:lnTo>
                  <a:pt x="0" y="28420"/>
                </a:lnTo>
                <a:cubicBezTo>
                  <a:pt x="0" y="12724"/>
                  <a:pt x="12724" y="0"/>
                  <a:pt x="28420" y="0"/>
                </a:cubicBezTo>
                <a:close/>
              </a:path>
            </a:pathLst>
          </a:custGeom>
          <a:blipFill rotWithShape="0">
            <a:blip r:embed="rId1"/>
            <a:srcRect/>
            <a:stretch/>
          </a:blipFill>
          <a:ln cap="sq" w="1905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Google Shape;295;p10"/>
          <p:cNvSpPr/>
          <p:nvPr/>
        </p:nvSpPr>
        <p:spPr>
          <a:xfrm>
            <a:off x="6419880" y="3352680"/>
            <a:ext cx="5447880" cy="3580920"/>
          </a:xfrm>
          <a:custGeom>
            <a:avLst/>
            <a:gdLst>
              <a:gd name="textAreaLeft" fmla="*/ 0 w 5447880"/>
              <a:gd name="textAreaRight" fmla="*/ 5448240 w 5447880"/>
              <a:gd name="textAreaTop" fmla="*/ 0 h 3580920"/>
              <a:gd name="textAreaBottom" fmla="*/ 3581280 h 3580920"/>
            </a:gdLst>
            <a:ahLst/>
            <a:rect l="textAreaLeft" t="textAreaTop" r="textAreaRight" b="textAreaBottom"/>
            <a:pathLst>
              <a:path w="1631088" h="1072184">
                <a:moveTo>
                  <a:pt x="28420" y="0"/>
                </a:moveTo>
                <a:lnTo>
                  <a:pt x="1602669" y="0"/>
                </a:lnTo>
                <a:cubicBezTo>
                  <a:pt x="1618365" y="0"/>
                  <a:pt x="1631088" y="12724"/>
                  <a:pt x="1631088" y="28420"/>
                </a:cubicBezTo>
                <a:lnTo>
                  <a:pt x="1631088" y="1043764"/>
                </a:lnTo>
                <a:cubicBezTo>
                  <a:pt x="1631088" y="1059460"/>
                  <a:pt x="1618365" y="1072184"/>
                  <a:pt x="1602669" y="1072184"/>
                </a:cubicBezTo>
                <a:lnTo>
                  <a:pt x="28420" y="1072184"/>
                </a:lnTo>
                <a:cubicBezTo>
                  <a:pt x="12724" y="1072184"/>
                  <a:pt x="0" y="1059460"/>
                  <a:pt x="0" y="1043764"/>
                </a:cubicBezTo>
                <a:lnTo>
                  <a:pt x="0" y="28420"/>
                </a:lnTo>
                <a:cubicBezTo>
                  <a:pt x="0" y="12724"/>
                  <a:pt x="12724" y="0"/>
                  <a:pt x="28420" y="0"/>
                </a:cubicBezTo>
                <a:close/>
              </a:path>
            </a:pathLst>
          </a:custGeom>
          <a:blipFill rotWithShape="0">
            <a:blip r:embed="rId2"/>
            <a:srcRect/>
            <a:stretch/>
          </a:blipFill>
          <a:ln cap="sq" w="1905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Google Shape;296;p10"/>
          <p:cNvSpPr/>
          <p:nvPr/>
        </p:nvSpPr>
        <p:spPr>
          <a:xfrm>
            <a:off x="12173040" y="3352680"/>
            <a:ext cx="5447880" cy="3580920"/>
          </a:xfrm>
          <a:custGeom>
            <a:avLst/>
            <a:gdLst>
              <a:gd name="textAreaLeft" fmla="*/ 0 w 5447880"/>
              <a:gd name="textAreaRight" fmla="*/ 5448240 w 5447880"/>
              <a:gd name="textAreaTop" fmla="*/ 0 h 3580920"/>
              <a:gd name="textAreaBottom" fmla="*/ 3581280 h 3580920"/>
            </a:gdLst>
            <a:ahLst/>
            <a:rect l="textAreaLeft" t="textAreaTop" r="textAreaRight" b="textAreaBottom"/>
            <a:pathLst>
              <a:path w="1631088" h="1072184">
                <a:moveTo>
                  <a:pt x="28420" y="0"/>
                </a:moveTo>
                <a:lnTo>
                  <a:pt x="1602669" y="0"/>
                </a:lnTo>
                <a:cubicBezTo>
                  <a:pt x="1618365" y="0"/>
                  <a:pt x="1631088" y="12724"/>
                  <a:pt x="1631088" y="28420"/>
                </a:cubicBezTo>
                <a:lnTo>
                  <a:pt x="1631088" y="1043764"/>
                </a:lnTo>
                <a:cubicBezTo>
                  <a:pt x="1631088" y="1059460"/>
                  <a:pt x="1618365" y="1072184"/>
                  <a:pt x="1602669" y="1072184"/>
                </a:cubicBezTo>
                <a:lnTo>
                  <a:pt x="28420" y="1072184"/>
                </a:lnTo>
                <a:cubicBezTo>
                  <a:pt x="12724" y="1072184"/>
                  <a:pt x="0" y="1059460"/>
                  <a:pt x="0" y="1043764"/>
                </a:cubicBezTo>
                <a:lnTo>
                  <a:pt x="0" y="28420"/>
                </a:lnTo>
                <a:cubicBezTo>
                  <a:pt x="0" y="12724"/>
                  <a:pt x="12724" y="0"/>
                  <a:pt x="28420" y="0"/>
                </a:cubicBezTo>
                <a:close/>
              </a:path>
            </a:pathLst>
          </a:custGeom>
          <a:blipFill rotWithShape="0">
            <a:blip r:embed="rId3"/>
            <a:srcRect/>
            <a:stretch/>
          </a:blipFill>
          <a:ln cap="sq" w="1905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307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312;p12"/>
          <p:cNvSpPr/>
          <p:nvPr/>
        </p:nvSpPr>
        <p:spPr>
          <a:xfrm>
            <a:off x="3480120" y="1264680"/>
            <a:ext cx="11844000" cy="74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>
              <a:lnSpc>
                <a:spcPct val="120000"/>
              </a:lnSpc>
            </a:pPr>
            <a:r>
              <a:rPr b="1" lang="en-IN" sz="3600" spc="-1" strike="noStrike">
                <a:solidFill>
                  <a:srgbClr val="ffffff"/>
                </a:solidFill>
                <a:latin typeface="Arial"/>
                <a:ea typeface="Arial"/>
              </a:rPr>
              <a:t>Live Application &amp; Project Repository</a:t>
            </a:r>
            <a:endParaRPr b="0" lang="en-IN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6" name="Google Shape;313;p12"/>
          <p:cNvSpPr/>
          <p:nvPr/>
        </p:nvSpPr>
        <p:spPr>
          <a:xfrm>
            <a:off x="2801520" y="4050360"/>
            <a:ext cx="12522600" cy="152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r>
              <a:rPr b="1" lang="en-IN" sz="2600" spc="-1" strike="noStrike">
                <a:solidFill>
                  <a:srgbClr val="38bdf8"/>
                </a:solidFill>
                <a:latin typeface="Arial"/>
                <a:ea typeface="Arial"/>
              </a:rPr>
              <a:t>GitHub Repository:</a:t>
            </a:r>
            <a:endParaRPr b="0" lang="en-IN" sz="2600" spc="-1" strike="noStrike">
              <a:solidFill>
                <a:srgbClr val="ffffff"/>
              </a:solidFill>
              <a:latin typeface="Arial"/>
            </a:endParaRPr>
          </a:p>
          <a:p>
            <a:r>
              <a:rPr b="0" lang="en-IN" sz="2200" spc="-1" strike="noStrike">
                <a:solidFill>
                  <a:srgbClr val="ffffff"/>
                </a:solidFill>
                <a:latin typeface="Arial"/>
                <a:ea typeface="Arial"/>
              </a:rPr>
              <a:t>https://github.com/balaji-16s/insider-threat-behavioral-intelligence-system</a:t>
            </a:r>
            <a:endParaRPr b="0" lang="en-IN" sz="2200" spc="-1" strike="noStrike">
              <a:solidFill>
                <a:srgbClr val="ffffff"/>
              </a:solidFill>
              <a:latin typeface="Arial"/>
            </a:endParaRPr>
          </a:p>
          <a:p>
            <a:endParaRPr b="0" lang="en-IN" sz="2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0" lang="en-IN" sz="2000" spc="-1" strike="noStrike">
                <a:solidFill>
                  <a:srgbClr val="cbd5e1"/>
                </a:solidFill>
                <a:latin typeface="Arial"/>
                <a:ea typeface="Arial"/>
              </a:rPr>
              <a:t>Frontend Dashboard: http://localhost:5173   |   API Docs: http://localhost:8000/docs</a:t>
            </a:r>
            <a:endParaRPr b="0" lang="en-IN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307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318;p13"/>
          <p:cNvSpPr/>
          <p:nvPr/>
        </p:nvSpPr>
        <p:spPr>
          <a:xfrm>
            <a:off x="4028400" y="3286440"/>
            <a:ext cx="9631440" cy="74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algn="ctr">
              <a:lnSpc>
                <a:spcPct val="120000"/>
              </a:lnSpc>
              <a:tabLst>
                <a:tab algn="l" pos="0"/>
              </a:tabLst>
            </a:pPr>
            <a:r>
              <a:rPr b="1" lang="en-IN" sz="3600" spc="-1" strike="noStrike">
                <a:solidFill>
                  <a:srgbClr val="ffffff"/>
                </a:solidFill>
                <a:latin typeface="Arial"/>
                <a:ea typeface="Arial"/>
              </a:rPr>
              <a:t>Questions &amp; Answers</a:t>
            </a:r>
            <a:endParaRPr b="0" lang="en-IN" sz="36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307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323;p14"/>
          <p:cNvSpPr/>
          <p:nvPr/>
        </p:nvSpPr>
        <p:spPr>
          <a:xfrm>
            <a:off x="9296280" y="-104040"/>
            <a:ext cx="9197640" cy="10494360"/>
          </a:xfrm>
          <a:custGeom>
            <a:avLst/>
            <a:gdLst>
              <a:gd name="textAreaLeft" fmla="*/ 0 w 9197640"/>
              <a:gd name="textAreaRight" fmla="*/ 9198000 w 9197640"/>
              <a:gd name="textAreaTop" fmla="*/ 0 h 10494360"/>
              <a:gd name="textAreaBottom" fmla="*/ 10494720 h 10494360"/>
            </a:gdLst>
            <a:ahLst/>
            <a:rect l="textAreaLeft" t="textAreaTop" r="textAreaRight" b="textAreaBottom"/>
            <a:pathLst>
              <a:path w="1425021" h="1625907">
                <a:moveTo>
                  <a:pt x="0" y="0"/>
                </a:moveTo>
                <a:lnTo>
                  <a:pt x="1425021" y="0"/>
                </a:lnTo>
                <a:lnTo>
                  <a:pt x="1425021" y="1625907"/>
                </a:lnTo>
                <a:lnTo>
                  <a:pt x="0" y="1625907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cap="sq" w="1905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noAutofit/>
          </a:bodyPr>
          <a:p>
            <a:pPr>
              <a:lnSpc>
                <a:spcPct val="120000"/>
              </a:lnSpc>
            </a:pPr>
            <a:endParaRPr b="0" lang="en-IN" sz="14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249" name="Google Shape;324;p14"/>
          <p:cNvSpPr/>
          <p:nvPr/>
        </p:nvSpPr>
        <p:spPr>
          <a:xfrm>
            <a:off x="6361920" y="3825720"/>
            <a:ext cx="8662320" cy="74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0" lang="en-IN" sz="3600" spc="-1" strike="noStrike">
                <a:solidFill>
                  <a:srgbClr val="55d0fa"/>
                </a:solidFill>
                <a:latin typeface="Arial"/>
                <a:ea typeface="Arial"/>
              </a:rPr>
              <a:t>Thank You</a:t>
            </a:r>
            <a:endParaRPr b="0" lang="en-IN" sz="36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250" name="Google Shape;325;p14"/>
          <p:cNvGrpSpPr/>
          <p:nvPr/>
        </p:nvGrpSpPr>
        <p:grpSpPr>
          <a:xfrm>
            <a:off x="7290360" y="6934320"/>
            <a:ext cx="3479040" cy="4601160"/>
            <a:chOff x="7290360" y="6934320"/>
            <a:chExt cx="3479040" cy="4601160"/>
          </a:xfrm>
        </p:grpSpPr>
        <p:grpSp>
          <p:nvGrpSpPr>
            <p:cNvPr id="251" name="Google Shape;326;p14"/>
            <p:cNvGrpSpPr/>
            <p:nvPr/>
          </p:nvGrpSpPr>
          <p:grpSpPr>
            <a:xfrm>
              <a:off x="7441200" y="6934320"/>
              <a:ext cx="3328200" cy="3328200"/>
              <a:chOff x="7441200" y="6934320"/>
              <a:chExt cx="3328200" cy="3328200"/>
            </a:xfrm>
          </p:grpSpPr>
          <p:sp>
            <p:nvSpPr>
              <p:cNvPr id="252" name="Google Shape;327;p14"/>
              <p:cNvSpPr/>
              <p:nvPr/>
            </p:nvSpPr>
            <p:spPr>
              <a:xfrm rot="8100000">
                <a:off x="7401600" y="7926120"/>
                <a:ext cx="3331080" cy="1267920"/>
              </a:xfrm>
              <a:custGeom>
                <a:avLst/>
                <a:gdLst>
                  <a:gd name="textAreaLeft" fmla="*/ 0 w 3331080"/>
                  <a:gd name="textAreaRight" fmla="*/ 3331440 w 3331080"/>
                  <a:gd name="textAreaTop" fmla="*/ 0 h 1267920"/>
                  <a:gd name="textAreaBottom" fmla="*/ 1268280 h 1267920"/>
                </a:gdLst>
                <a:ahLst/>
                <a:rect l="textAreaLeft" t="textAreaTop" r="textAreaRight" b="textAreaBottom"/>
                <a:pathLst>
                  <a:path w="882773" h="336039">
                    <a:moveTo>
                      <a:pt x="679573" y="0"/>
                    </a:moveTo>
                    <a:cubicBezTo>
                      <a:pt x="791798" y="0"/>
                      <a:pt x="882773" y="75225"/>
                      <a:pt x="882773" y="168020"/>
                    </a:cubicBezTo>
                    <a:cubicBezTo>
                      <a:pt x="882773" y="260814"/>
                      <a:pt x="791798" y="336039"/>
                      <a:pt x="679573" y="336039"/>
                    </a:cubicBezTo>
                    <a:lnTo>
                      <a:pt x="203200" y="336039"/>
                    </a:lnTo>
                    <a:cubicBezTo>
                      <a:pt x="90976" y="336039"/>
                      <a:pt x="0" y="260814"/>
                      <a:pt x="0" y="168020"/>
                    </a:cubicBezTo>
                    <a:cubicBezTo>
                      <a:pt x="0" y="75225"/>
                      <a:pt x="90976" y="0"/>
                      <a:pt x="203200" y="0"/>
                    </a:cubicBezTo>
                    <a:close/>
                  </a:path>
                </a:pathLst>
              </a:custGeom>
              <a:noFill/>
              <a:ln cap="sq" w="19050">
                <a:solidFill>
                  <a:srgbClr val="2bca81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5720" rIns="45720" tIns="45000" bIns="45000" anchor="ctr">
                <a:noAutofit/>
              </a:bodyPr>
              <a:p>
                <a:pPr>
                  <a:lnSpc>
                    <a:spcPct val="120000"/>
                  </a:lnSpc>
                  <a:tabLst>
                    <a:tab algn="l" pos="0"/>
                  </a:tabLst>
                </a:pPr>
                <a:endParaRPr b="0" lang="en-IN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253" name="Google Shape;328;p14"/>
              <p:cNvSpPr/>
              <p:nvPr/>
            </p:nvSpPr>
            <p:spPr>
              <a:xfrm rot="8100000">
                <a:off x="7439760" y="7910640"/>
                <a:ext cx="3331080" cy="13755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5720" rIns="45720" tIns="45000" bIns="45000" anchor="ctr">
                <a:noAutofit/>
              </a:bodyPr>
              <a:p>
                <a:pPr algn="ctr">
                  <a:lnSpc>
                    <a:spcPct val="120000"/>
                  </a:lnSpc>
                  <a:tabLst>
                    <a:tab algn="l" pos="0"/>
                  </a:tabLst>
                </a:pPr>
                <a:endParaRPr b="0" lang="en-IN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254" name="Google Shape;329;p14"/>
            <p:cNvGrpSpPr/>
            <p:nvPr/>
          </p:nvGrpSpPr>
          <p:grpSpPr>
            <a:xfrm>
              <a:off x="7290360" y="8184960"/>
              <a:ext cx="3350520" cy="3350520"/>
              <a:chOff x="7290360" y="8184960"/>
              <a:chExt cx="3350520" cy="3350520"/>
            </a:xfrm>
          </p:grpSpPr>
          <p:sp>
            <p:nvSpPr>
              <p:cNvPr id="255" name="Google Shape;330;p14"/>
              <p:cNvSpPr/>
              <p:nvPr/>
            </p:nvSpPr>
            <p:spPr>
              <a:xfrm rot="8100000">
                <a:off x="7250040" y="9183600"/>
                <a:ext cx="3353400" cy="1276200"/>
              </a:xfrm>
              <a:custGeom>
                <a:avLst/>
                <a:gdLst>
                  <a:gd name="textAreaLeft" fmla="*/ 0 w 3353400"/>
                  <a:gd name="textAreaRight" fmla="*/ 3353760 w 3353400"/>
                  <a:gd name="textAreaTop" fmla="*/ 0 h 1276200"/>
                  <a:gd name="textAreaBottom" fmla="*/ 1276560 h 1276200"/>
                </a:gdLst>
                <a:ahLst/>
                <a:rect l="textAreaLeft" t="textAreaTop" r="textAreaRight" b="textAreaBottom"/>
                <a:pathLst>
                  <a:path w="882773" h="336039">
                    <a:moveTo>
                      <a:pt x="679573" y="0"/>
                    </a:moveTo>
                    <a:cubicBezTo>
                      <a:pt x="791798" y="0"/>
                      <a:pt x="882773" y="75225"/>
                      <a:pt x="882773" y="168020"/>
                    </a:cubicBezTo>
                    <a:cubicBezTo>
                      <a:pt x="882773" y="260814"/>
                      <a:pt x="791798" y="336039"/>
                      <a:pt x="679573" y="336039"/>
                    </a:cubicBezTo>
                    <a:lnTo>
                      <a:pt x="203200" y="336039"/>
                    </a:lnTo>
                    <a:cubicBezTo>
                      <a:pt x="90976" y="336039"/>
                      <a:pt x="0" y="260814"/>
                      <a:pt x="0" y="168020"/>
                    </a:cubicBezTo>
                    <a:cubicBezTo>
                      <a:pt x="0" y="75225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535e9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5720" rIns="45720" tIns="45000" bIns="45000" anchor="ctr">
                <a:noAutofit/>
              </a:bodyPr>
              <a:p>
                <a:pPr>
                  <a:lnSpc>
                    <a:spcPct val="120000"/>
                  </a:lnSpc>
                  <a:tabLst>
                    <a:tab algn="l" pos="0"/>
                  </a:tabLst>
                </a:pPr>
                <a:endParaRPr b="0" lang="en-IN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256" name="Google Shape;331;p14"/>
              <p:cNvSpPr/>
              <p:nvPr/>
            </p:nvSpPr>
            <p:spPr>
              <a:xfrm rot="8100000">
                <a:off x="7288920" y="9167400"/>
                <a:ext cx="3353400" cy="13849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5720" rIns="45720" tIns="45000" bIns="45000" anchor="ctr">
                <a:noAutofit/>
              </a:bodyPr>
              <a:p>
                <a:pPr algn="ctr">
                  <a:lnSpc>
                    <a:spcPct val="120000"/>
                  </a:lnSpc>
                  <a:tabLst>
                    <a:tab algn="l" pos="0"/>
                  </a:tabLst>
                </a:pPr>
                <a:endParaRPr b="0" lang="en-IN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language>en-IN</dc:language>
  <cp:lastModifiedBy/>
  <dcterms:modified xsi:type="dcterms:W3CDTF">2026-08-19T17:17:35Z</dcterms:modified>
  <cp:revision>1</cp:revision>
  <dc:subject/>
  <dc:title/>
</cp:coreProperties>
</file>